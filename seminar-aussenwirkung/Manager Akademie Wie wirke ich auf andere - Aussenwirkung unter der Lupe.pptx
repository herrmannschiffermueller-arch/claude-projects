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35" r:id="rId97"/>
    <p:sldId id="336" r:id="rId98"/>
    <p:sldId id="337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57" r:id="rId119"/>
    <p:sldId id="358" r:id="rId120"/>
    <p:sldId id="359" r:id="rId121"/>
    <p:sldId id="360" r:id="rId122"/>
    <p:sldId id="361" r:id="rId123"/>
    <p:sldId id="362" r:id="rId124"/>
    <p:sldId id="363" r:id="rId125"/>
    <p:sldId id="364" r:id="rId126"/>
    <p:sldId id="365" r:id="rId127"/>
    <p:sldId id="366" r:id="rId128"/>
    <p:sldId id="367" r:id="rId129"/>
    <p:sldId id="368" r:id="rId130"/>
    <p:sldId id="369" r:id="rId131"/>
    <p:sldId id="370" r:id="rId132"/>
    <p:sldId id="371" r:id="rId133"/>
    <p:sldId id="372" r:id="rId134"/>
    <p:sldId id="373" r:id="rId135"/>
    <p:sldId id="374" r:id="rId136"/>
    <p:sldId id="319" r:id="rId68"/>
  </p:sldIdLst>
  <p:sldSz cy="6858000" cx="12192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Candara"/>
      <p:regular r:id="rId73"/>
      <p:bold r:id="rId74"/>
      <p:italic r:id="rId75"/>
      <p:boldItalic r:id="rId76"/>
    </p:embeddedFont>
    <p:embeddedFont>
      <p:font typeface="Helvetica Neue"/>
      <p:regular r:id="rId77"/>
      <p:bold r:id="rId78"/>
      <p:italic r:id="rId79"/>
      <p:boldItalic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1" roundtripDataSignature="AMtx7mitcecwjaHViWYb7GSwSeGNex7n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68" Type="http://schemas.openxmlformats.org/officeDocument/2006/relationships/slide" Target="slides/slide64.xml"/><Relationship Id="rId69" Type="http://schemas.openxmlformats.org/officeDocument/2006/relationships/font" Target="fonts/Roboto-regular.fntdata"/><Relationship Id="rId70" Type="http://schemas.openxmlformats.org/officeDocument/2006/relationships/font" Target="fonts/Roboto-bold.fntdata"/><Relationship Id="rId71" Type="http://schemas.openxmlformats.org/officeDocument/2006/relationships/font" Target="fonts/Roboto-italic.fntdata"/><Relationship Id="rId72" Type="http://schemas.openxmlformats.org/officeDocument/2006/relationships/font" Target="fonts/Roboto-boldItalic.fntdata"/><Relationship Id="rId73" Type="http://schemas.openxmlformats.org/officeDocument/2006/relationships/font" Target="fonts/Candara-regular.fntdata"/><Relationship Id="rId74" Type="http://schemas.openxmlformats.org/officeDocument/2006/relationships/font" Target="fonts/Candara-bold.fntdata"/><Relationship Id="rId75" Type="http://schemas.openxmlformats.org/officeDocument/2006/relationships/font" Target="fonts/Candara-italic.fntdata"/><Relationship Id="rId76" Type="http://schemas.openxmlformats.org/officeDocument/2006/relationships/font" Target="fonts/Candara-boldItalic.fntdata"/><Relationship Id="rId77" Type="http://schemas.openxmlformats.org/officeDocument/2006/relationships/font" Target="fonts/HelveticaNeue-regular.fntdata"/><Relationship Id="rId78" Type="http://schemas.openxmlformats.org/officeDocument/2006/relationships/font" Target="fonts/HelveticaNeue-bold.fntdata"/><Relationship Id="rId79" Type="http://schemas.openxmlformats.org/officeDocument/2006/relationships/font" Target="fonts/HelveticaNeue-italic.fntdata"/><Relationship Id="rId80" Type="http://schemas.openxmlformats.org/officeDocument/2006/relationships/font" Target="fonts/HelveticaNeue-boldItalic.fntdata"/><Relationship Id="rId81" Type="http://customschemas.google.com/relationships/presentationmetadata" Target="metadata"/><Relationship Id="rId82" Type="http://schemas.openxmlformats.org/officeDocument/2006/relationships/slide" Target="slides/slide65.xml"/><Relationship Id="rId83" Type="http://schemas.openxmlformats.org/officeDocument/2006/relationships/slide" Target="slides/slide66.xml"/><Relationship Id="rId84" Type="http://schemas.openxmlformats.org/officeDocument/2006/relationships/slide" Target="slides/slide67.xml"/><Relationship Id="rId85" Type="http://schemas.openxmlformats.org/officeDocument/2006/relationships/slide" Target="slides/slide68.xml"/><Relationship Id="rId86" Type="http://schemas.openxmlformats.org/officeDocument/2006/relationships/slide" Target="slides/slide69.xml"/><Relationship Id="rId87" Type="http://schemas.openxmlformats.org/officeDocument/2006/relationships/slide" Target="slides/slide70.xml"/><Relationship Id="rId88" Type="http://schemas.openxmlformats.org/officeDocument/2006/relationships/slide" Target="slides/slide71.xml"/><Relationship Id="rId89" Type="http://schemas.openxmlformats.org/officeDocument/2006/relationships/slide" Target="slides/slide72.xml"/><Relationship Id="rId90" Type="http://schemas.openxmlformats.org/officeDocument/2006/relationships/slide" Target="slides/slide73.xml"/><Relationship Id="rId91" Type="http://schemas.openxmlformats.org/officeDocument/2006/relationships/slide" Target="slides/slide74.xml"/><Relationship Id="rId92" Type="http://schemas.openxmlformats.org/officeDocument/2006/relationships/slide" Target="slides/slide75.xml"/><Relationship Id="rId93" Type="http://schemas.openxmlformats.org/officeDocument/2006/relationships/slide" Target="slides/slide76.xml"/><Relationship Id="rId94" Type="http://schemas.openxmlformats.org/officeDocument/2006/relationships/slide" Target="slides/slide77.xml"/><Relationship Id="rId95" Type="http://schemas.openxmlformats.org/officeDocument/2006/relationships/slide" Target="slides/slide78.xml"/><Relationship Id="rId96" Type="http://schemas.openxmlformats.org/officeDocument/2006/relationships/slide" Target="slides/slide79.xml"/><Relationship Id="rId97" Type="http://schemas.openxmlformats.org/officeDocument/2006/relationships/slide" Target="slides/slide80.xml"/><Relationship Id="rId98" Type="http://schemas.openxmlformats.org/officeDocument/2006/relationships/slide" Target="slides/slide81.xml"/><Relationship Id="rId99" Type="http://schemas.openxmlformats.org/officeDocument/2006/relationships/slide" Target="slides/slide82.xml"/><Relationship Id="rId100" Type="http://schemas.openxmlformats.org/officeDocument/2006/relationships/slide" Target="slides/slide83.xml"/><Relationship Id="rId101" Type="http://schemas.openxmlformats.org/officeDocument/2006/relationships/slide" Target="slides/slide84.xml"/><Relationship Id="rId102" Type="http://schemas.openxmlformats.org/officeDocument/2006/relationships/slide" Target="slides/slide85.xml"/><Relationship Id="rId103" Type="http://schemas.openxmlformats.org/officeDocument/2006/relationships/slide" Target="slides/slide86.xml"/><Relationship Id="rId104" Type="http://schemas.openxmlformats.org/officeDocument/2006/relationships/slide" Target="slides/slide87.xml"/><Relationship Id="rId105" Type="http://schemas.openxmlformats.org/officeDocument/2006/relationships/slide" Target="slides/slide88.xml"/><Relationship Id="rId106" Type="http://schemas.openxmlformats.org/officeDocument/2006/relationships/slide" Target="slides/slide89.xml"/><Relationship Id="rId107" Type="http://schemas.openxmlformats.org/officeDocument/2006/relationships/slide" Target="slides/slide90.xml"/><Relationship Id="rId108" Type="http://schemas.openxmlformats.org/officeDocument/2006/relationships/slide" Target="slides/slide91.xml"/><Relationship Id="rId109" Type="http://schemas.openxmlformats.org/officeDocument/2006/relationships/slide" Target="slides/slide92.xml"/><Relationship Id="rId110" Type="http://schemas.openxmlformats.org/officeDocument/2006/relationships/slide" Target="slides/slide93.xml"/><Relationship Id="rId111" Type="http://schemas.openxmlformats.org/officeDocument/2006/relationships/slide" Target="slides/slide94.xml"/><Relationship Id="rId112" Type="http://schemas.openxmlformats.org/officeDocument/2006/relationships/slide" Target="slides/slide95.xml"/><Relationship Id="rId113" Type="http://schemas.openxmlformats.org/officeDocument/2006/relationships/slide" Target="slides/slide96.xml"/><Relationship Id="rId114" Type="http://schemas.openxmlformats.org/officeDocument/2006/relationships/slide" Target="slides/slide97.xml"/><Relationship Id="rId115" Type="http://schemas.openxmlformats.org/officeDocument/2006/relationships/slide" Target="slides/slide98.xml"/><Relationship Id="rId116" Type="http://schemas.openxmlformats.org/officeDocument/2006/relationships/slide" Target="slides/slide99.xml"/><Relationship Id="rId117" Type="http://schemas.openxmlformats.org/officeDocument/2006/relationships/slide" Target="slides/slide100.xml"/><Relationship Id="rId118" Type="http://schemas.openxmlformats.org/officeDocument/2006/relationships/slide" Target="slides/slide101.xml"/><Relationship Id="rId119" Type="http://schemas.openxmlformats.org/officeDocument/2006/relationships/slide" Target="slides/slide102.xml"/><Relationship Id="rId120" Type="http://schemas.openxmlformats.org/officeDocument/2006/relationships/slide" Target="slides/slide103.xml"/><Relationship Id="rId121" Type="http://schemas.openxmlformats.org/officeDocument/2006/relationships/slide" Target="slides/slide104.xml"/><Relationship Id="rId122" Type="http://schemas.openxmlformats.org/officeDocument/2006/relationships/slide" Target="slides/slide105.xml"/><Relationship Id="rId123" Type="http://schemas.openxmlformats.org/officeDocument/2006/relationships/slide" Target="slides/slide106.xml"/><Relationship Id="rId124" Type="http://schemas.openxmlformats.org/officeDocument/2006/relationships/slide" Target="slides/slide107.xml"/><Relationship Id="rId125" Type="http://schemas.openxmlformats.org/officeDocument/2006/relationships/slide" Target="slides/slide108.xml"/><Relationship Id="rId126" Type="http://schemas.openxmlformats.org/officeDocument/2006/relationships/slide" Target="slides/slide109.xml"/><Relationship Id="rId127" Type="http://schemas.openxmlformats.org/officeDocument/2006/relationships/slide" Target="slides/slide110.xml"/><Relationship Id="rId128" Type="http://schemas.openxmlformats.org/officeDocument/2006/relationships/slide" Target="slides/slide111.xml"/><Relationship Id="rId129" Type="http://schemas.openxmlformats.org/officeDocument/2006/relationships/slide" Target="slides/slide112.xml"/><Relationship Id="rId130" Type="http://schemas.openxmlformats.org/officeDocument/2006/relationships/slide" Target="slides/slide113.xml"/><Relationship Id="rId131" Type="http://schemas.openxmlformats.org/officeDocument/2006/relationships/slide" Target="slides/slide114.xml"/><Relationship Id="rId132" Type="http://schemas.openxmlformats.org/officeDocument/2006/relationships/slide" Target="slides/slide115.xml"/><Relationship Id="rId133" Type="http://schemas.openxmlformats.org/officeDocument/2006/relationships/slide" Target="slides/slide116.xml"/><Relationship Id="rId134" Type="http://schemas.openxmlformats.org/officeDocument/2006/relationships/slide" Target="slides/slide117.xml"/><Relationship Id="rId135" Type="http://schemas.openxmlformats.org/officeDocument/2006/relationships/slide" Target="slides/slide118.xml"/><Relationship Id="rId136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Begrüßung, Organisatorisches (Zeiten, Pausen, Handys), Hinweis auf Videofeedback und Vertraulichkeit.</a:t>
            </a:r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1934599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f41934599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Blitzlicht: Was nehme ich mit? Feedbackbogen, Verabschiedung.</a:t>
            </a:r>
          </a:p>
        </p:txBody>
      </p:sp>
      <p:sp>
        <p:nvSpPr>
          <p:cNvPr id="589" name="Google Shape;5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drei Wunsch-Eigenschaften auf Moderationskarten notieren lassen – sie werden in Modul 2 wieder gebraucht.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Quellen: Willis &amp; Todorov (2006), Psychological Science; Ambady &amp; Rosenthal (1993), JPSP; Asch (1946).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Auswertung: Welche Signale wurden genannt (Kleidung, Haltung, Mimik, Accessoires)? Überleitung zu Selbstbild/Fremdbild.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Quellen: Svenson (1981), Acta Psychologica; Gilovich, Medvec &amp; Savitsky (2000), JPSP; Kruger &amp; Dunning (1999), JPSP.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Eigenschaftsliste als Handout: z. B. souverän, zurückhaltend, dominant, herzlich, sachlich, humorvoll, strukturiert, spontan, nahbar, distanziert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Einverständnis für Videoaufnahmen einholen; Aufnahmen werden nach dem Seminar gelöscht.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Feedbackbogen mit den Kategorien Stand, Blick, Gestik, Stimme, Sprache, Gesamteindruck austeilen.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Situationen möglichst aus dem Berufsalltag der Teilnehmenden wählen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756457"/>
            <a:ext cx="10515600" cy="5420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-&#10;überschrift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leich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9705" y="237038"/>
            <a:ext cx="2305504" cy="365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ommunikation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elbstdarstellung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Relationship Id="rId4" Type="http://schemas.openxmlformats.org/officeDocument/2006/relationships/hyperlink" Target="https://de.wikipedia.org/wiki/Selbstdarstellung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Wahrnehmung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Wahrnehmung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Thin-slicing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Stereotype_content_model" TargetMode="Externa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Albert_Mehrabian" TargetMode="Externa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Halo-Effekt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Rosenthal-Effekt" TargetMode="Externa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Thin-slicing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Johari-Fenster" TargetMode="Externa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elbstbild" TargetMode="Externa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Johari-Fenster" TargetMode="Externa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Illusory_superiority" TargetMode="Externa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Feedback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Relationship Id="rId4" Type="http://schemas.openxmlformats.org/officeDocument/2006/relationships/hyperlink" Target="https://de.wikipedia.org/wiki/Johari-Fenster" TargetMode="Externa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&#246;rpersprache" TargetMode="Externa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Nonverbale_Kommunikation" TargetMode="Externa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Power_posing" TargetMode="Externa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Gestik" TargetMode="Externa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Mimik" TargetMode="Externa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Proxemik" TargetMode="Externa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&#246;rpersprache" TargetMode="Externa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Relationship Id="rId4" Type="http://schemas.openxmlformats.org/officeDocument/2006/relationships/hyperlink" Target="https://de.wikipedia.org/wiki/K&#246;rpersprache" TargetMode="Externa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Prosodie" TargetMode="Externa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Prosodie" TargetMode="Externa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timme" TargetMode="Externa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Rhetorik" TargetMode="Externa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Paul_Watzlawick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Vier-Seiten-Modell" TargetMode="Externa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Prosodie" TargetMode="Externa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Dresscode" TargetMode="Externa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elbstdarstellung" TargetMode="Externa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Dresscode" TargetMode="Externa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Enclothed_cognition" TargetMode="Externa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Videokonferenz" TargetMode="Externa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eith_Johnstone" TargetMode="Externa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eith_Johnstone" TargetMode="Externa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Stereotype_content_model" TargetMode="Externa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en.wikipedia.org/wiki/Self-monitoring" TargetMode="Externa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Lampenfieber" TargetMode="Externa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Impression-Management" TargetMode="Externa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Relationship Id="rId4" Type="http://schemas.openxmlformats.org/officeDocument/2006/relationships/hyperlink" Target="https://de.wikipedia.org/wiki/Lampenfieber" TargetMode="Externa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malltalk" TargetMode="Externa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malltalk" TargetMode="Externa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Besprechung" TargetMode="Externa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Elevator_Pitch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chlagfertigkeit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Relationship Id="rId4" Type="http://schemas.openxmlformats.org/officeDocument/2006/relationships/hyperlink" Target="https://de.wikipedia.org/wiki/Rollenspiel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Feedback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elbstbild" TargetMode="Externa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Selbstmanagement" TargetMode="Externa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ommunikation" TargetMode="Externa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de.wikipedia.org/wiki/Kommunik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de-DE"/>
              <a:t>Seminare für Fach- und Führungskräfte</a:t>
            </a:r>
            <a:endParaRPr b="1"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362" y="1649320"/>
            <a:ext cx="8421276" cy="1333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95" name="Google Shape;9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933450"/>
            <a:ext cx="10515600" cy="524351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de-DE" sz="3200"/>
              <a:t>Herzlich willkommen zum Seminar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de-DE" sz="3200">
                <a:solidFill>
                  <a:srgbClr val="0B5394"/>
                </a:solidFill>
              </a:rPr>
              <a:t>Wie wirke ich auf andere?</a:t>
            </a:r>
            <a:endParaRPr sz="32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de-DE" sz="2400">
                <a:solidFill>
                  <a:srgbClr val="0B5394"/>
                </a:solidFill>
              </a:rPr>
              <a:t>Außenwirkung unter der Lupe</a:t>
            </a:r>
            <a:endParaRPr sz="32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de-DE" sz="1400"/>
              <a:t>am [Datum] in [Ort]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de-DE" sz="1400"/>
              <a:t>Dozent: Herrmann Schiffermüller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i="1" lang="de-DE" sz="1400"/>
              <a:t>Quellenverweise:  </a:t>
            </a:r>
            <a:r>
              <a:rPr i="1" lang="de-DE" sz="1400"/>
              <a:t>Klick auf das Bild auf jeder Seite</a:t>
            </a:r>
            <a:r>
              <a:rPr lang="de-DE" sz="1400"/>
              <a:t>     </a:t>
            </a:r>
            <a:endParaRPr sz="1400"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5000" y="5037100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756457"/>
            <a:ext cx="10515600" cy="5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INHALTE /1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Wie Wahrnehmung funktioniert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Der erste Eindruck – Wärme und Kompetenz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Mythos 7-38-55 und Wahrnehmungsfehler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Selbstbild, Wunschbild, Fremdbild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Johari-Fenster und blinde Flecken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Feedback geben und nehmen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Vier Kanäle der Wirkung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Haltung, Gestik, Mimik, Blickkontakt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Distanzzonen und Deutung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Stimme als Visitenkarte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Klare Sprache statt Weichmacher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Watzlawick und das Vier-Seiten-Modell</a:t>
            </a:r>
          </a:p>
        </p:txBody>
      </p:sp>
      <p:sp>
        <p:nvSpPr>
          <p:cNvPr id="103" name="Google Shape;10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41934599b_0_1"/>
          <p:cNvSpPr txBox="1"/>
          <p:nvPr>
            <p:ph idx="1" type="body"/>
          </p:nvPr>
        </p:nvSpPr>
        <p:spPr>
          <a:xfrm>
            <a:off x="838200" y="756457"/>
            <a:ext cx="10515600" cy="5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INHALTE /2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Extraverbale Signale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Dresscodes und Passung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Digitale Außenwirkung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Hochstatus und Tiefstatus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Präsenz, Authentizität und Lampenfieber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Strategien der Selbstdarstellung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Begrüßung und Smalltalk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Wirkung in Meetings und Elevator Pitch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Souverän in kritischen Momenten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Wirkungsprofil und Transferplan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Zusammenfassung</a:t>
            </a:r>
          </a:p>
        </p:txBody>
      </p:sp>
      <p:sp>
        <p:nvSpPr>
          <p:cNvPr id="110" name="Google Shape;110;g3f41934599b_0_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11" name="Google Shape;111;g3f41934599b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"/>
          <p:cNvSpPr txBox="1"/>
          <p:nvPr>
            <p:ph idx="1" type="body"/>
          </p:nvPr>
        </p:nvSpPr>
        <p:spPr>
          <a:xfrm>
            <a:off x="838200" y="756457"/>
            <a:ext cx="10515600" cy="5420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5879"/>
              </a:buClr>
              <a:buSzPts val="1800"/>
              <a:buNone/>
            </a:pPr>
            <a:r>
              <a:rPr b="1" lang="de-DE" sz="1800">
                <a:solidFill>
                  <a:srgbClr val="375879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375879"/>
              </a:buClr>
              <a:buSzPts val="2800"/>
              <a:buNone/>
            </a:pPr>
            <a:r>
              <a:t/>
            </a:r>
            <a:endParaRPr b="1" sz="27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375879"/>
              </a:buClr>
              <a:buSzPts val="2800"/>
              <a:buNone/>
            </a:pPr>
            <a:r>
              <a:rPr b="1" lang="de-DE" sz="21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Herzlichen Dank für Ihre Aufmerksamkeit und viel Erfolg bei der Anwendung der gewonnenen Erkenntnisse.</a:t>
            </a:r>
            <a:endParaRPr sz="1100">
              <a:solidFill>
                <a:srgbClr val="0B539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92" name="Google Shape;59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593" name="Google Shape;59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Seminarüberblick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Tagesablauf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427939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80160"/>
                <a:gridCol w="5806440"/>
                <a:gridCol w="32918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Uhrzeit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Inhalt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Methodik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09:00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Begrüßung, Ziele, Vorstellungsrunde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Plenum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09:30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1: Wahrnehmung und erster Eindruck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Übung in Paaren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10:15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2: Selbstbild und Fremdbild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Selbsteinschätzung, Feedback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11:00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Pause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11:15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3: Körpersprache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Körperübungen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12:30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Mittagspause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13:15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4: Stimme und Sprache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Stimm- und Sprechübungen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14:00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5: Erscheinungsbild und Auftreten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Impuls, Diskussion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14:30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6: Souveränität und Präsenz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Kurzpräsentation mit Videofeedback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15:30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Pause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15:45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7: Wirkung in Schlüsselsituationen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Rollenspiele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5394"/>
                          </a:solidFill>
                          <a:latin typeface="Arial"/>
                        </a:rPr>
                        <a:t>16:30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Modul 8: Transfer, Feedback, Abschluss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Arial"/>
                        </a:rPr>
                        <a:t>Transferplan, Blitzlicht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Seminarüberblick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Seminarziele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Nach diesem Seminar können Sie …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2860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Verstehen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wie Menschen Eindrücke bilden – und welche Denkfehler dabei wirken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50080" y="22860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Erkennen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wie Sie selbst wirken: Selbstbild und Fremdbild abgleichen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85760" y="22860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Einsetzen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Körpersprache, Stimme und Sprache bewusst und stimmig nutzen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41148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Auftreten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Erscheinungsbild und Verhalten passend zu Rolle und Anlass wählen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450080" y="41148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Überzeugen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souverän und präsent in Meetings, Präsentationen und Gesprächen wirken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985760" y="4114800"/>
            <a:ext cx="3307080" cy="16002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Umsetzen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einen persönlichen Plan für Ihre Wirkung im Alltag erstellen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Seminarüberblick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Vorstellungsrunde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Ankommen – und zum ersten Mal über die eigene Wirkung nachdenken.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Name, Funktion und Unternehmen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Wie möchte ich auf andere wirken? (drei Eigenschaften)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Welche Rückmeldung zu meiner Wirkung habe ich schon einmal bekommen?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Mein Ziel für den heutigen Tag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ca. 2 Min. pro Person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Plenum, im Stehen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1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entstehen Eindrücke – und wie schnell?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Nach welchen Kriterien beurteilen wir andere?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Welche Wahrnehmungsfehler verzerren das Bild?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ist ein aktiver Prozess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Wir sehen nicht die Welt, wie sie ist – sondern wie wir sie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auswählen, ordnen und deuten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Pentagon 127"/>
          <p:cNvSpPr/>
          <p:nvPr/>
        </p:nvSpPr>
        <p:spPr>
          <a:xfrm>
            <a:off x="914400" y="2514600"/>
            <a:ext cx="2057400" cy="86868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024128" y="2514600"/>
            <a:ext cx="1600200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Reiz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356616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Aussehen, Stimme, Verhalten</a:t>
            </a:r>
          </a:p>
        </p:txBody>
      </p:sp>
      <p:sp>
        <p:nvSpPr>
          <p:cNvPr id="131" name="Chevron 130"/>
          <p:cNvSpPr/>
          <p:nvPr/>
        </p:nvSpPr>
        <p:spPr>
          <a:xfrm>
            <a:off x="3017520" y="251460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408426" y="251460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Auswahl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017520" y="356616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Was fällt mir auf?</a:t>
            </a:r>
          </a:p>
        </p:txBody>
      </p:sp>
      <p:sp>
        <p:nvSpPr>
          <p:cNvPr id="134" name="Chevron 133"/>
          <p:cNvSpPr/>
          <p:nvPr/>
        </p:nvSpPr>
        <p:spPr>
          <a:xfrm>
            <a:off x="5120640" y="251460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5511546" y="251460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Ordnung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120640" y="356616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Einordnen in bekannte Muster</a:t>
            </a:r>
          </a:p>
        </p:txBody>
      </p:sp>
      <p:sp>
        <p:nvSpPr>
          <p:cNvPr id="137" name="Chevron 136"/>
          <p:cNvSpPr/>
          <p:nvPr/>
        </p:nvSpPr>
        <p:spPr>
          <a:xfrm>
            <a:off x="7223759" y="251460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614665" y="251460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Deutung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223759" y="356616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Was bedeutet das?</a:t>
            </a:r>
          </a:p>
        </p:txBody>
      </p:sp>
      <p:sp>
        <p:nvSpPr>
          <p:cNvPr id="140" name="Chevron 139"/>
          <p:cNvSpPr/>
          <p:nvPr/>
        </p:nvSpPr>
        <p:spPr>
          <a:xfrm>
            <a:off x="9326880" y="2514600"/>
            <a:ext cx="2057400" cy="868680"/>
          </a:xfrm>
          <a:prstGeom prst="chevron">
            <a:avLst/>
          </a:prstGeom>
          <a:solidFill>
            <a:srgbClr val="1C2F5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9717786" y="251460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Urteil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326880" y="356616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sympathisch, kompetent …?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4400" y="4846320"/>
            <a:ext cx="10378440" cy="9144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„Wahr ist nicht, was A sagt, sondern was B versteht.“ – Die Wirkung entsteht beim Empfänger. Wir können sie beeinflussen, aber nie vollständig kontrollieren.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Der erste Eindruck entsteht in Sekunden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000" b="1">
                <a:solidFill>
                  <a:srgbClr val="0B5394"/>
                </a:solidFill>
                <a:latin typeface="Arial"/>
              </a:rPr>
              <a:t>0,1 Sek.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reichen, um aus einem Gesicht Vertrauenswürdigkeit und Kompetenz abzuleiten (Willis &amp; Todorov, 2006)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34840" y="18288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000" b="1">
                <a:solidFill>
                  <a:srgbClr val="3D85C6"/>
                </a:solidFill>
                <a:latin typeface="Arial"/>
              </a:rPr>
              <a:t>30 Sek.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stummes Video eines Dozenten sagten seine Bewertung am Semesterende gut vorher (Ambady &amp; Rosenthal, 1993)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55279" y="18288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ctr"/>
            <a:r>
              <a:rPr sz="4000" b="1">
                <a:solidFill>
                  <a:srgbClr val="0B5394"/>
                </a:solidFill>
                <a:latin typeface="Arial"/>
              </a:rPr>
              <a:t>1. Info</a:t>
            </a:r>
          </a:p>
          <a:p>
            <a:pPr algn="ctr"/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prägt das Gesamturteil stärker als spätere Informationen – der Primacy-Effekt (Asch, 1946)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5074920"/>
            <a:ext cx="10378440" cy="6400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Der erste Eindruck ist kein Endurteil – aber er färbt, wie alle weiteren Informationen gedeutet werden.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Die zwei Grunddimensionen: Wärme und Kompetenz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Menschen beurteilen andere vor allem nach zwei Fragen: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Was hat sie/er mit mir vor?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(Wärme) und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Kann sie/er das umsetzen?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(Kompetenz).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ectangle 127"/>
          <p:cNvSpPr/>
          <p:nvPr/>
        </p:nvSpPr>
        <p:spPr>
          <a:xfrm>
            <a:off x="914400" y="2514600"/>
            <a:ext cx="3154680" cy="141732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Kalt + kompetent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Respekt, aber Distanz – oft Neid oder Misstrauen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60520" y="2514600"/>
            <a:ext cx="3154680" cy="141732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Warm + kompetent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Bewunderung, Vertrauen, Kooperation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14400" y="4023360"/>
            <a:ext cx="3154680" cy="1417320"/>
          </a:xfrm>
          <a:prstGeom prst="rect">
            <a:avLst/>
          </a:prstGeom>
          <a:solidFill>
            <a:srgbClr val="7F8C99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Kalt + wenig kompetent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Ablehnung, Desinteresse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60520" y="4023360"/>
            <a:ext cx="3154680" cy="141732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Warm + wenig kompetent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Sympathie, aber wenig Einfluss – oft Mitleid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680960" y="2514600"/>
            <a:ext cx="3611880" cy="292608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37744" rIns="237744" tIns="201168" bIns="20116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Für die Praxis</a:t>
            </a:r>
          </a:p>
          <a:p>
            <a:pPr algn="l"/>
          </a:p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Wärme wird zuerst beurteilt – und wiegt schwerer.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Erst Verbindung herstellen, dann Kompetenz zeigen („Connect, then lead“).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Mythos 7-38-55: Was Mehrabian wirklich untersucht hat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Oft zitiert: Wirkung entstehe zu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7 % aus Worten, 38 % aus der Stimme und 55 % aus der Körpersprache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 Das ist so nicht richtig.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514600"/>
            <a:ext cx="5029200" cy="31089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Was die Studien zeigten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Laborversuche mit </a:t>
            </a:r>
            <a:r>
              <a:rPr sz="1400" b="1">
                <a:solidFill>
                  <a:srgbClr val="1F2A36"/>
                </a:solidFill>
                <a:latin typeface="Arial"/>
              </a:rPr>
              <a:t>einzelnen Wörtern</a:t>
            </a:r>
            <a:r>
              <a:rPr sz="1400" b="0">
                <a:solidFill>
                  <a:srgbClr val="1F2A36"/>
                </a:solidFill>
                <a:latin typeface="Arial"/>
              </a:rPr>
              <a:t> (z. B. „vielleicht“)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Es ging um </a:t>
            </a:r>
            <a:r>
              <a:rPr sz="1400" b="1">
                <a:solidFill>
                  <a:srgbClr val="1F2A36"/>
                </a:solidFill>
                <a:latin typeface="Arial"/>
              </a:rPr>
              <a:t>Gefühle und Einstellungen</a:t>
            </a:r>
            <a:r>
              <a:rPr sz="1400" b="0">
                <a:solidFill>
                  <a:srgbClr val="1F2A36"/>
                </a:solidFill>
                <a:latin typeface="Arial"/>
              </a:rPr>
              <a:t> (Mögen / Nicht-Mögen)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Nur bei </a:t>
            </a:r>
            <a:r>
              <a:rPr sz="1400" b="1">
                <a:solidFill>
                  <a:srgbClr val="1F2A36"/>
                </a:solidFill>
                <a:latin typeface="Arial"/>
              </a:rPr>
              <a:t>widersprüchlichen</a:t>
            </a:r>
            <a:r>
              <a:rPr sz="1400" b="0">
                <a:solidFill>
                  <a:srgbClr val="1F2A36"/>
                </a:solidFill>
                <a:latin typeface="Arial"/>
              </a:rPr>
              <a:t> Signalen verlassen wir uns stärker auf Stimme und Mimik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63640" y="2514600"/>
            <a:ext cx="5029200" cy="31089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Was wir daraus ableiten können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Inhalt zählt – besonders bei Fachthemen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Entscheidend ist die </a:t>
            </a:r>
            <a:r>
              <a:rPr sz="1400" b="1">
                <a:solidFill>
                  <a:srgbClr val="1F2A36"/>
                </a:solidFill>
                <a:latin typeface="Arial"/>
              </a:rPr>
              <a:t>Stimmigkeit (Kongruenz)</a:t>
            </a:r>
            <a:r>
              <a:rPr sz="1400" b="0">
                <a:solidFill>
                  <a:srgbClr val="1F2A36"/>
                </a:solidFill>
                <a:latin typeface="Arial"/>
              </a:rPr>
              <a:t> von Wort, Stimme und Körper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Passen sie nicht zusammen, glauben wir eher dem Nonverbalen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Typische Wahrnehmungsfehler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37124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4114800"/>
                <a:gridCol w="38862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Effekt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Was passiert?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Beispiel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Halo-Effekt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Eine auffällige Eigenschaft überstrahlt alle anderen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Attraktive Menschen werden für kompetenter gehalten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Primacy-Effekt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Erste Informationen wiegen schwerer als spätere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Ein holpriger Start prägt den ganzen Vortrag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Recency-Effekt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Das Letzte bleibt besonders gut in Erinnerung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Der Abschluss eines Gesprächs bleibt hängen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Bestätigungsfehler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Wir suchen Belege für unser erstes Urteil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„Wusste ich doch, dass er unzuverlässig ist.“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Ähnlichkeitseffekt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Wer uns ähnlich ist, wirkt sympathischer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Gleiches Hobby, gleiche Uni, gleicher Dialekt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Stereotype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Urteil auf Basis von Gruppenzugehörigkeit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Alter, Geschlecht, Herkunft, Beruf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Erwartungen wirken: Die selbsterfüllende Prophezeiung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Im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Pygmalion-Experiment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(Rosenthal &amp; Jacobson, 1968) erhielten Lehrkräfte die Information, einige Kinder seien „Spätzünder“ mit großem Potenzial. Diese Kinder – in Wahrheit zufällig ausgewählt – steigerten ihre Leistung stärker als die anderen.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3063240"/>
            <a:ext cx="2377440" cy="146304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Erwartung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„Die neue Kollegin ist unsicher.“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3310128" y="3611880"/>
            <a:ext cx="292608" cy="365760"/>
          </a:xfrm>
          <a:prstGeom prst="rightArrow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611880" y="3063240"/>
            <a:ext cx="2377440" cy="146304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Verhalten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Weniger Verantwortung, mehr Kontrolle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6007608" y="3611880"/>
            <a:ext cx="292608" cy="365760"/>
          </a:xfrm>
          <a:prstGeom prst="rightArrow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309360" y="3063240"/>
            <a:ext cx="2377440" cy="146304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Reaktion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Sie traut sich weniger zu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8705088" y="3611880"/>
            <a:ext cx="292608" cy="365760"/>
          </a:xfrm>
          <a:prstGeom prst="rightArrow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006840" y="3063240"/>
            <a:ext cx="2377440" cy="146304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Bestätigung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„Sehen Sie – unsicher!“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14400" y="4800600"/>
            <a:ext cx="10378440" cy="8229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400" b="1">
                <a:solidFill>
                  <a:srgbClr val="1F2A36"/>
                </a:solidFill>
                <a:latin typeface="Arial"/>
              </a:rPr>
              <a:t>Das gilt auch umgekehrt: Wie wir uns selbst sehen, beeinflusst unser Auftreten – und damit, wie andere uns begegnen.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Wahrnehmung und erster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Der erste Eindruck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Erleben, wie schnell und wie unterschiedlich erste Eindrücke entstehen.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Paare bilden – möglichst mit Personen, die sich nicht kennen.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30 Sekunden schweigend ansehen, dann notieren: Beruf? Hobby? Drei Eigenschaften?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Eindrücke austauschen: Was stimmt – was nicht?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Reflexion: Woran haben Sie Ihr Urteil festgemacht?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15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Paararbeit, Auswertung im Plenum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2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sehe ich mich selbst?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sehen mich andere?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schließe ich die Lücke?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Drei Bilder von mir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Außenwirkung ist die Schnittmenge aus dem, was ich zeige, und dem, was andere wahrnehmen.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1188720" y="2468880"/>
            <a:ext cx="2926080" cy="292608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10896" rIns="310896" tIns="274320" bIns="27432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Selbstbild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So sehe ich mich</a:t>
            </a:r>
          </a:p>
        </p:txBody>
      </p:sp>
      <p:sp>
        <p:nvSpPr>
          <p:cNvPr id="129" name="Oval 128"/>
          <p:cNvSpPr/>
          <p:nvPr/>
        </p:nvSpPr>
        <p:spPr>
          <a:xfrm>
            <a:off x="3246120" y="2468880"/>
            <a:ext cx="2926080" cy="292608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10896" rIns="310896" tIns="274320" bIns="27432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Wunschbild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So möchte ich wirken</a:t>
            </a:r>
          </a:p>
        </p:txBody>
      </p:sp>
      <p:sp>
        <p:nvSpPr>
          <p:cNvPr id="130" name="Oval 129"/>
          <p:cNvSpPr/>
          <p:nvPr/>
        </p:nvSpPr>
        <p:spPr>
          <a:xfrm>
            <a:off x="5303520" y="2468880"/>
            <a:ext cx="2926080" cy="2926080"/>
          </a:xfrm>
          <a:prstGeom prst="ellipse">
            <a:avLst/>
          </a:prstGeom>
          <a:solidFill>
            <a:srgbClr val="1C2F5E"/>
          </a:solidFill>
          <a:ln>
            <a:noFill/>
          </a:ln>
        </p:spPr>
        <p:txBody>
          <a:bodyPr rtlCol="0" anchor="ctr" wrap="square" lIns="310896" rIns="310896" tIns="274320" bIns="27432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Fremdbild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So sehen mich andere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6800" y="2468880"/>
            <a:ext cx="2606040" cy="292608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Ziel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Die drei Bilder möglichst weit zur Deckung bringen – durch Selbstreflexion, Feedback und bewusstes Verhalten.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Johari-Fenster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1371600" y="1783080"/>
            <a:ext cx="6400800" cy="32004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4A5561"/>
                </a:solidFill>
                <a:latin typeface="Arial"/>
              </a:rPr>
              <a:t>bekannt        ←  Selbst  →        unbekannt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71600" y="2148840"/>
            <a:ext cx="3154680" cy="169164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Öffentliche Person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bekannt – anderen bekannt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17720" y="2148840"/>
            <a:ext cx="3154680" cy="169164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Blinder Fleck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unbekannt – anderen bekannt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0" y="3931920"/>
            <a:ext cx="3154680" cy="169164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Privatperson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bekannt – anderen unbekannt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17720" y="3931920"/>
            <a:ext cx="3154680" cy="1691640"/>
          </a:xfrm>
          <a:prstGeom prst="rect">
            <a:avLst/>
          </a:prstGeom>
          <a:solidFill>
            <a:srgbClr val="7F8C99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Unbekanntes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Mir unbekannt – anderen unbekannt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92440" y="2148840"/>
            <a:ext cx="3200400" cy="34290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19456" rIns="219456" tIns="182880" bIns="18288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Die „Arena“ vergrößern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Feedback einholen → blinder Fleck wird kleiner</a:t>
            </a:r>
          </a:p>
          <a:p>
            <a:pPr algn="l"/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Sich zeigen → Privatbereich wird kleiner</a:t>
            </a:r>
          </a:p>
          <a:p>
            <a:pPr algn="l"/>
          </a:p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Große Arena = mehr Vertrauen, weniger Missverständnisse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Warum wir uns oft falsch einschätzen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3291840" cy="3749039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37744" rIns="237744" tIns="201168" bIns="201168"/>
          <a:lstStyle/>
          <a:p>
            <a:pPr algn="ctr"/>
            <a:r>
              <a:rPr sz="2800" b="1">
                <a:solidFill>
                  <a:srgbClr val="0B5394"/>
                </a:solidFill>
                <a:latin typeface="Arial"/>
              </a:rPr>
              <a:t>93 %</a:t>
            </a:r>
          </a:p>
          <a:p>
            <a:pPr algn="ctr"/>
            <a:r>
              <a:rPr sz="1500" b="1">
                <a:solidFill>
                  <a:srgbClr val="1F2A36"/>
                </a:solidFill>
                <a:latin typeface="Arial"/>
              </a:rPr>
              <a:t>Überdurchschnittlich-Effekt</a:t>
            </a:r>
          </a:p>
          <a:p>
            <a:pPr algn="ctr"/>
          </a:p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der befragten US-Autofahrer hielten sich für besser als der Durchschnitt (Svenson, 1981).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34840" y="1828800"/>
            <a:ext cx="3291840" cy="3749039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37744" rIns="237744" tIns="201168" bIns="201168"/>
          <a:lstStyle/>
          <a:p>
            <a:pPr algn="ctr"/>
            <a:r>
              <a:rPr sz="2800" b="1">
                <a:solidFill>
                  <a:srgbClr val="3D85C6"/>
                </a:solidFill>
                <a:latin typeface="Arial"/>
              </a:rPr>
              <a:t>≈ 50 % vs. 23 %</a:t>
            </a:r>
          </a:p>
          <a:p>
            <a:pPr algn="ctr"/>
            <a:r>
              <a:rPr sz="1500" b="1">
                <a:solidFill>
                  <a:srgbClr val="1F2A36"/>
                </a:solidFill>
                <a:latin typeface="Arial"/>
              </a:rPr>
              <a:t>Spotlight-Effekt</a:t>
            </a:r>
          </a:p>
          <a:p>
            <a:pPr algn="ctr"/>
          </a:p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Studierende im peinlichen T-Shirt schätzten, dass die Hälfte es bemerkt – tatsächlich war es knapp ein Viertel (Gilovich et al., 2000).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55279" y="1828800"/>
            <a:ext cx="3291840" cy="3749039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37744" rIns="237744" tIns="201168" bIns="201168"/>
          <a:lstStyle/>
          <a:p>
            <a:pPr algn="ctr"/>
            <a:r>
              <a:rPr sz="2800" b="1">
                <a:solidFill>
                  <a:srgbClr val="0B5394"/>
                </a:solidFill>
                <a:latin typeface="Arial"/>
              </a:rPr>
              <a:t>Dunning-Kruger</a:t>
            </a:r>
          </a:p>
          <a:p>
            <a:pPr algn="ctr"/>
            <a:r>
              <a:rPr sz="1500" b="1">
                <a:solidFill>
                  <a:srgbClr val="1F2A36"/>
                </a:solidFill>
                <a:latin typeface="Arial"/>
              </a:rPr>
              <a:t>Selbstüberschätzung</a:t>
            </a:r>
          </a:p>
          <a:p>
            <a:pPr algn="ctr"/>
          </a:p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Gerade bei geringer Kompetenz fehlt oft das Wissen, die eigenen Lücken zu erkennen (Kruger &amp; Dunning, 1999).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Feedback: Der Schlüssel zum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Ohne Rückmeldung bleibt der blinde Fleck unsichtbar. Gutes Feedback ist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konkret, beschreibend und wohlwollend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514600"/>
            <a:ext cx="5029200" cy="315468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Feedback geben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Ich-Botschaften: „Auf mich wirkst du …“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Beobachtung beschreiben, nicht bewerten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Konkret statt pauschal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Positives zuerst und ehrlich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Veränderbares ansprechen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63640" y="2514600"/>
            <a:ext cx="5029200" cy="315468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Feedback nehmen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Zuhören, ausreden lassen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Nicht rechtfertigen oder verteidigen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Verständnisfragen stellen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Bedanken – Feedback ist ein Geschenk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Selbst entscheiden, was man annimmt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Selbstbild und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Selbstbild – Fremdbild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eigene Wirkung mit der Wahrnehmung anderer abgleichen.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Wählen Sie aus der Eigenschaftsliste fünf Begriffe, die Sie beschreiben.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Zwei andere Teilnehmende wählen je fünf Begriffe für Sie.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Vergleichen Sie: Wo gibt es Übereinstimmung, wo Abweichungen?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Notieren Sie Ihren wichtigsten „blinden Fleck“.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25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Dreiergruppen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3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Was verrät mein Körper über mich?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Welche Signale wirken souverän?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deute ich Körpersprache richtig?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Vier Kanäle der Wirkung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Verbal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Was ich sage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14400" y="30632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Wortwahl, Inhalt, Struktur, Argumente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566160" y="18288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Paraverbal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Wie ich es sage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566160" y="30632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Stimme, Tempo, Lautstärke, Betonung, Pausen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17920" y="18288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1C2F5E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Nonverbal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Was mein Körper zeigt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217920" y="30632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Haltung, Gestik, Mimik, Blick, Distanz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869680" y="18288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7F8C99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Extraverbal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Was mich umgibt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869680" y="3063240"/>
            <a:ext cx="2423160" cy="16459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Kleidung, Pünktlichkeit, Umgebung, Unterlagen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14400" y="4983480"/>
            <a:ext cx="10378440" cy="6858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Überzeugend wirkt, wer auf allen Kanälen dieselbe Botschaft sendet – das nennt man Kongruenz.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Haltung und Stand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Stabiler Stand: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Füße hüftbreit, Gewicht auf beiden Beinen, Knie locker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Aufrechte Haltung: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Brustbein leicht angehoben, Schultern locker, Kopf gerade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Raum einnehmen: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nicht klein machen, aber auch nicht breitbeinig dominieren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Ruhe: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kein Wippen, Tänzeln oder Anlehnen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Was sagt die Forschung zum „Power Posing“?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viel zitierte Studie von Carney, Cuddy &amp; Yap (2010) fand Hormoneffekte nach zwei Minuten „Siegerpose“. Diese ließen sich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nicht replizieren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(Ranehill et al., 2015). Belegt ist eher ein kleiner Effekt auf das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subjektive Gefühl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von Stärke.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Fazit: Eine aufrechte Haltung wirkt auf andere – Wundermittel ist sie nicht.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Gestik: Hände, die überzeugen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3840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3657600"/>
                <a:gridCol w="3429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Mögliche Wirkung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Tipp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Offene Handflächen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ehrlich, zugewandt, einladend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Beim Erklären und Fragen einsetzen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Gesten im Bereich Taille bis Schulter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engagiert, positiv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„Positive Zone“ nutzen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Hände in den Taschen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lässig oder desinteressiert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Im Business eher vermeiden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Verschränkte Arme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abwartend, distanziert – oder einfach bequem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Kontext beachten, Arme lösen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Zeigefinger auf Personen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belehrend, aggressiv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Mit offener Hand zeigen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Spielen mit Stift, Ring, Haaren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nervös, abgelenkt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Hände ruhig ablegen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914400" y="5715000"/>
            <a:ext cx="10378440" cy="36576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300" b="1">
                <a:solidFill>
                  <a:srgbClr val="3D85C6"/>
                </a:solidFill>
                <a:latin typeface="Arial"/>
              </a:rPr>
              <a:t>Wichtig: Gesten haben keine feste Bedeutung – erst Kontext und Kombination machen sie deutbar.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Mimik und Blickkontakt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Mimik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Echtes Lächeln: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erreicht die Augen (Duchenne-Lächeln) – ein aufgesetztes Lächeln erkennt man oft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Gesicht spricht mit: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Mimik sollte zum Inhalt passen, besonders bei ernsten Themen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Entspannte Stirn: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dauerhaftes Stirnrunzeln wirkt kritisch oder angestrengt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Blickkontakt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Im Gespräch: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Blickkontakt halten, aber nicht starren – natürliche Pausen zulassen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Vor Gruppen: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jeweils einer Person einen Gedanken lang in die Augen sehen, dann wechseln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Nicht ausweichen: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Blick auf Boden, Decke oder Folien wirkt unsicher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Kultur beachten: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Intensität und Dauer von Blickkontakt werden international unterschiedlich bewertet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Distanzzonen nach Edward T. Hall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Jeder Mensch hat einen persönlichen Raum. Wer ihn unaufgefordert betritt, löst Unbehagen aus.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78407" y="2377440"/>
            <a:ext cx="4535424" cy="3291840"/>
          </a:xfrm>
          <a:prstGeom prst="ellipse">
            <a:avLst/>
          </a:prstGeom>
          <a:solidFill>
            <a:srgbClr val="B7C9DD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488643" y="2747772"/>
            <a:ext cx="3514953" cy="2551176"/>
          </a:xfrm>
          <a:prstGeom prst="ellipse">
            <a:avLst/>
          </a:prstGeom>
          <a:solidFill>
            <a:srgbClr val="8FB0D3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998878" y="3118104"/>
            <a:ext cx="2494483" cy="1810512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509113" y="3488436"/>
            <a:ext cx="1474012" cy="1069848"/>
          </a:xfrm>
          <a:prstGeom prst="ellipse">
            <a:avLst/>
          </a:prstGeom>
          <a:solidFill>
            <a:srgbClr val="1C2F5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492240" y="2514600"/>
            <a:ext cx="411480" cy="411480"/>
          </a:xfrm>
          <a:prstGeom prst="ellipse">
            <a:avLst/>
          </a:prstGeom>
          <a:solidFill>
            <a:srgbClr val="B7C9DD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040880" y="2404872"/>
            <a:ext cx="4251960" cy="6858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Öffentliche Zone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ab ca. 3,6 m – Vortrag, Bühne</a:t>
            </a:r>
          </a:p>
        </p:txBody>
      </p:sp>
      <p:sp>
        <p:nvSpPr>
          <p:cNvPr id="134" name="Oval 133"/>
          <p:cNvSpPr/>
          <p:nvPr/>
        </p:nvSpPr>
        <p:spPr>
          <a:xfrm>
            <a:off x="6492240" y="3291840"/>
            <a:ext cx="411480" cy="411480"/>
          </a:xfrm>
          <a:prstGeom prst="ellipse">
            <a:avLst/>
          </a:prstGeom>
          <a:solidFill>
            <a:srgbClr val="8FB0D3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040880" y="3182112"/>
            <a:ext cx="4251960" cy="6858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Soziale Zone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ca. 1,2–3,6 m – Geschäftskontakte</a:t>
            </a:r>
          </a:p>
        </p:txBody>
      </p:sp>
      <p:sp>
        <p:nvSpPr>
          <p:cNvPr id="136" name="Oval 135"/>
          <p:cNvSpPr/>
          <p:nvPr/>
        </p:nvSpPr>
        <p:spPr>
          <a:xfrm>
            <a:off x="6492240" y="4069080"/>
            <a:ext cx="411480" cy="41148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040880" y="3959352"/>
            <a:ext cx="4251960" cy="6858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Persönliche Zone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ca. 0,45–1,2 m – Kollegen, Freunde</a:t>
            </a:r>
          </a:p>
        </p:txBody>
      </p:sp>
      <p:sp>
        <p:nvSpPr>
          <p:cNvPr id="138" name="Oval 137"/>
          <p:cNvSpPr/>
          <p:nvPr/>
        </p:nvSpPr>
        <p:spPr>
          <a:xfrm>
            <a:off x="6492240" y="4846320"/>
            <a:ext cx="411480" cy="411480"/>
          </a:xfrm>
          <a:prstGeom prst="ellipse">
            <a:avLst/>
          </a:prstGeom>
          <a:solidFill>
            <a:srgbClr val="1C2F5E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7040880" y="4736592"/>
            <a:ext cx="4251960" cy="6858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Intime Zone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bis ca. 0,45 m – Partner, Familie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 richtig deuten: Die vier K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5074920" cy="169164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Kontext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In welcher Situation zeigt sich das Signal? Kälte, Stuhl, Müdigkeit können Ursachen sein.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17920" y="1828800"/>
            <a:ext cx="5074920" cy="1691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Kombination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Nie ein Einzelsignal deuten – erst mehrere gleichgerichtete Signale ergeben ein Bild.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3749039"/>
            <a:ext cx="5074920" cy="169164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Kongruenz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Passen Worte, Stimme und Körper zusammen? Widersprüche sind der eigentliche Hinweis.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17920" y="3749039"/>
            <a:ext cx="5074920" cy="1691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800" b="1">
                <a:solidFill>
                  <a:srgbClr val="0B5394"/>
                </a:solidFill>
                <a:latin typeface="Arial"/>
              </a:rPr>
              <a:t>Kalibrierung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Wie verhält sich die Person normalerweise? Veränderungen sind aussagekräftiger als Zustände.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5577840"/>
            <a:ext cx="10378440" cy="4572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3D85C6"/>
                </a:solidFill>
                <a:latin typeface="Arial"/>
              </a:rPr>
              <a:t>Es gibt kein „Lexikon der Körpersprache“ – Vorsicht vor schnellen Deutungen.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Körpersprache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Körpersprache-Parcours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eigene Körpersprache bewusst erleben und Feedback erhalten.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Station 1: Den Raum betreten, Blickkontakt aufnehmen, begrüßen.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Station 2: 60 Sekunden frei stehen und über ein Hobby sprechen.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Station 3: Dieselbe Aussage einmal mit offener, einmal mit geschlossener Haltung.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Feedback der Gruppe und Videoaufzeichnung (freiwillig).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40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Kleingruppen à 4–5 Personen, Videofeedback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4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wirkt meine Stimme?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Welche Wörter schwächen meine Botschaft?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kommt das Gemeinte auch an?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Die Stimme: Visitenkarte der Persönlichkeit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Stimmlage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Eine entspannte, eher tiefere Lage wirkt ruhig und kompetent – Hochdruck macht die Stimme eng und hoch.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5008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Tempo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Zu schnell wirkt gehetzt, zu langsam zäh. Wichtiges langsamer sagen.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8576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Lautstärke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Angemessen laut wirkt präsent. Leise gesprochene Satzenden wirken unsicher.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Betonung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Gezielte Betonung lenkt die Aufmerksamkeit. Monotonie ermüdet.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45008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Pausen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Pausen geben Gewicht, Zeit zum Denken – und wirken souverän.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98576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Artikulation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Deutliche Aussprache signalisiert Klarheit und Respekt vor dem Publikum.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wirkt – auch auf Entscheidungen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In Experimenten wählten Versuchspersonen Kandidatinnen und Kandidaten mit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tieferen Stimmen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häufiger als Führungspersonen (Klofstad, Anderson &amp; Peters, 2012). Tiefere Stimmen werden oft als kompetenter und stärker wahrgenommen.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Praxistipps für eine tragfähige Stimme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AutoNum type="arabicPeriod"/>
            </a:pP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Atmen: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in den Bauch atmen (Zwerchfellatmung) – das senkt die Stimme und beruhigt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AutoNum type="arabicPeriod"/>
            </a:pP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Aufwärmen: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vor wichtigen Terminen summen, gähnen, Lippen flattern lassen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AutoNum type="arabicPeriod"/>
            </a:pP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Satzmelodie: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Aussagen am Ende nach unten führen – nach oben klingt es wie eine Frage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AutoNum type="arabicPeriod"/>
            </a:pP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Wasser trinken: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stilles Wasser, Raumtemperatur, kein Räuspern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AutoNum type="arabicPeriod"/>
            </a:pP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Aufnehmen: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die eigene Stimme per Smartphone anhören – ungewohnt, aber sehr lehrreich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Sprache: Klar statt weich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38" cy="3840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749039"/>
                <a:gridCol w="2651760"/>
                <a:gridCol w="3977639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Weichmacher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Wirkung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Klare Alternative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„Ich würde mal sagen …“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zögerlich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schlage vor …“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„Eigentlich / irgendwie / quasi“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unverbindlich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Füllwort streichen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„Nur eine kurze Frage …“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macht das Anliegen klein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habe eine Frage.“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„Vielleicht könnten wir eventuell …“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unsicher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„Lassen Sie uns … – einverstanden?“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„Sorry, dass ich störe …“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unterwürfig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„Danke, dass Sie sich Zeit nehmen.“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„Man müsste mal …“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niemand fühlt sich zuständig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kümmere mich bis Freitag um …“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914400" y="5669280"/>
            <a:ext cx="10378440" cy="4114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3D85C6"/>
                </a:solidFill>
                <a:latin typeface="Arial"/>
              </a:rPr>
              <a:t>Klar heißt nicht hart: Höflichkeit und Klarheit schließen sich nicht aus.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Kommunikation nach Paul Watzlawick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Zwei seiner fünf Axiome sind für die eigene Wirkung besonders wichtig.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377440"/>
            <a:ext cx="5029200" cy="329184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t" wrap="square" lIns="310896" rIns="310896" tIns="274320" bIns="274320"/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„Man kann nicht nicht kommunizieren.“</a:t>
            </a:r>
          </a:p>
          <a:p>
            <a:pPr algn="l"/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Auch Schweigen, Wegsehen oder Zuspätkommen senden eine Botschaft. Wir wirken immer – ob wir wollen oder nicht.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63640" y="2377440"/>
            <a:ext cx="5029200" cy="329184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t" wrap="square" lIns="310896" rIns="310896" tIns="274320" bIns="274320"/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Inhalts- und Beziehungsebene</a:t>
            </a:r>
          </a:p>
          <a:p>
            <a:pPr algn="l"/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Jede Nachricht hat einen Sach- und einen Beziehungsaspekt. Die Beziehungsebene bestimmt, wie der Inhalt verstanden wird – wie beim Eisberg liegt der größere Teil unter der Oberfläche.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Das Vier-Seiten-Modell nach Schulz von Thun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Jede Nachricht hat vier Seiten – und die Wirkung entscheidet sich auf dem „Ohr“, mit dem der Empfänger hört.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4434840" y="3017520"/>
            <a:ext cx="3337560" cy="173736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rtlCol="0" anchor="ctr" wrap="square" lIns="310896" rIns="310896" tIns="274320" bIns="274320"/>
          <a:lstStyle/>
          <a:p>
            <a:pPr algn="ctr"/>
            <a:r>
              <a:rPr sz="1600" b="1">
                <a:solidFill>
                  <a:srgbClr val="1F2A36"/>
                </a:solidFill>
                <a:latin typeface="Arial"/>
              </a:rPr>
              <a:t>„Sie sind ja heute schon da.“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14400" y="2514600"/>
            <a:ext cx="3200400" cy="128016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Sachinhalt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Sie sind anwesend.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092440" y="2514600"/>
            <a:ext cx="3200400" cy="128016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Selbstoffenbarung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Ich bin überrascht.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4297680"/>
            <a:ext cx="3200400" cy="1280160"/>
          </a:xfrm>
          <a:prstGeom prst="roundRect">
            <a:avLst>
              <a:gd name="adj" fmla="val 10000"/>
            </a:avLst>
          </a:prstGeom>
          <a:solidFill>
            <a:srgbClr val="3D85C6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Beziehung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Sonst sind Sie unzuverlässig.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092440" y="4297680"/>
            <a:ext cx="3200400" cy="1280160"/>
          </a:xfrm>
          <a:prstGeom prst="roundRect">
            <a:avLst>
              <a:gd name="adj" fmla="val 10000"/>
            </a:avLst>
          </a:prstGeom>
          <a:solidFill>
            <a:srgbClr val="0B5394"/>
          </a:solidFill>
          <a:ln>
            <a:noFill/>
          </a:ln>
        </p:spPr>
        <p:txBody>
          <a:bodyPr rtlCol="0" anchor="ctr" wrap="square" lIns="128016" rIns="128016" tIns="91440" b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Appell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Seien Sie öfter pünktlich!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Stimme und Sprache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Betonung verändert die Botschaft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Erleben, wie stark Stimme und Betonung die Wirkung eines Satzes verändern.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Satz: „Ich habe nicht gesagt, dass Sie das Projekt verschieben sollen.“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Sprechen Sie den Satz sieben Mal – jedes Mal mit Betonung auf einem anderen Wort.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Die Gruppe beschreibt jeweils, was „gemeint“ ist.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Danach: eigenen Kernsatz aus dem Berufsalltag mit Pause und Satzmelodie üben.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20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Plenum, danach Paare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5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Was sagt mein Äußeres über mich?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Welcher Dresscode passt zu welchem Anlass?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wirke ich digital?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Extraverbale Signale: Mehr als Kleidung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Kleidung und Pflege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Passform, Zustand, Sauberkeit – Details wie Schuhe und Hände werden wahrgenommen.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5008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Pünktlichkeit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Pünktlich sein signalisiert Respekt und Verlässlichkeit.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985760" y="182880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Unterlagen und Technik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Saubere Präsentation, funktionierende Technik, ordentliche Unterlagen.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Arbeitsplatz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Schreibtisch, Hintergrund im Videocall, Auto beim Kundentermin.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45008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Schriftliches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E-Mail-Stil, Signatur, Rechtschreibung – oft der allererste Eindruck.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985760" y="3794760"/>
            <a:ext cx="3307080" cy="17373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82880" rIns="182880" tIns="146304" bIns="146304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Umgang mit anderen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Wie behandle ich Empfang, Service, Assistenz? Das wird beobachtet.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Dresscodes im Business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3749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4572000"/>
                <a:gridCol w="3429000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Dresscode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Typisch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Passende Anlässe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Business Formal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Dunkler Anzug oder Kostüm, Hemd/Bluse, ggf. Krawatte, klassische Schuhe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Vorstand, Banken, Verhandlungen, offizielle Anlässe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Business Casual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Stoffhose oder Rock, Hemd/Bluse, Sakko optional, gepflegte Schuhe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Büroalltag, interne Meetings, Kundenbesuche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Smart Casual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Chino, Poloshirt oder Pullover, Sneaker in gepflegter 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Start-ups, Teamevents, Workshops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Casual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Jeans, T-Shirt, Freizeitschuhe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Freitage in lockeren Unternehmen, Freizeit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914400" y="5669280"/>
            <a:ext cx="10378440" cy="4114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3D85C6"/>
                </a:solidFill>
                <a:latin typeface="Arial"/>
              </a:rPr>
              <a:t>Faustregel: eine Stufe über dem Durchschnitt der Zielgruppe – besonders beim ersten Termin.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Passung statt Perfektion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Das Erscheinungsbild wirkt dann überzeugend, wenn es zu vier Faktoren passt.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1417320" y="2331720"/>
            <a:ext cx="1417320" cy="14173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14400" y="388620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Rolle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Was erwarten andere von meiner Funktion?</a:t>
            </a:r>
          </a:p>
        </p:txBody>
      </p:sp>
      <p:sp>
        <p:nvSpPr>
          <p:cNvPr id="130" name="Oval 129"/>
          <p:cNvSpPr/>
          <p:nvPr/>
        </p:nvSpPr>
        <p:spPr>
          <a:xfrm>
            <a:off x="4069080" y="2331720"/>
            <a:ext cx="1417320" cy="141732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566160" y="388620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Anlass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Kundentermin, Workshop oder Betriebsfeier?</a:t>
            </a:r>
          </a:p>
        </p:txBody>
      </p:sp>
      <p:sp>
        <p:nvSpPr>
          <p:cNvPr id="132" name="Oval 131"/>
          <p:cNvSpPr/>
          <p:nvPr/>
        </p:nvSpPr>
        <p:spPr>
          <a:xfrm>
            <a:off x="6720840" y="2331720"/>
            <a:ext cx="1417320" cy="14173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217920" y="388620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Branche und Kultur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Was ist üblich – und wo darf ich abweichen?</a:t>
            </a:r>
          </a:p>
        </p:txBody>
      </p:sp>
      <p:sp>
        <p:nvSpPr>
          <p:cNvPr id="134" name="Oval 133"/>
          <p:cNvSpPr/>
          <p:nvPr/>
        </p:nvSpPr>
        <p:spPr>
          <a:xfrm>
            <a:off x="9372600" y="2331720"/>
            <a:ext cx="1417320" cy="141732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869680" y="3886200"/>
            <a:ext cx="2423160" cy="118872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500" b="1">
                <a:solidFill>
                  <a:srgbClr val="0B5394"/>
                </a:solidFill>
                <a:latin typeface="Arial"/>
              </a:rPr>
              <a:t>Persönlichkeit</a:t>
            </a:r>
          </a:p>
          <a:p>
            <a:pPr algn="ctr"/>
            <a:r>
              <a:rPr sz="1200" b="0">
                <a:solidFill>
                  <a:srgbClr val="1F2A36"/>
                </a:solidFill>
                <a:latin typeface="Arial"/>
              </a:rPr>
              <a:t>Fühle ich mich wohl und authentisch?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14400" y="5257800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Kleidung wirkt auch nach innen: Adam &amp; Galinsky (2012) sprechen von „Enclothed Cognition“ – die Befunde sind allerdings nicht einheitlich repliziert.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Erscheinungsbild und Auftreten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Digitale Außenwirkung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Im Videocall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Kamera auf Augenhöhe: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in die Kamera sehen, wenn Sie sprechen – das ist „Blickkontakt“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Licht von vorn: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Fenster oder Lampe vor Ihnen, nicht im Rücken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Ruhiger Hintergrund: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aufgeräumt oder dezent unscharf, keine Ablenkung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Ton vor Bild: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ein gutes Headset ist wichtiger als eine gute Kamera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Online-Profil und Schriftverkehr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Profilfoto: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aktuell, professionell, freundlich – Gesicht gut erkennbar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Profiltext: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Nutzen statt Aufzählung – wofür stehen Sie?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E-Mails: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klarer Betreff, kurze Absätze, freundlicher Ton, sorgfältige Rechtschreibung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6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Was macht souveräne Menschen aus?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gehe ich mit Nervosität um?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authentisch darf ich sein?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Hochstatus und Tiefstatus nach Keith Johnstone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Status ist nicht die Position, sondern das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Verhalten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, mit dem wir uns im Verhältnis zu anderen einordnen.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2468880"/>
          <a:ext cx="10378439" cy="2743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4023360"/>
                <a:gridCol w="39776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Hochstatus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Tiefstatus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Haltung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aufrecht, ruhig, raumgreifend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eingesunken, klein, unruhig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Blick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hält Blickkontakt, ruhiger Blick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weicht aus, schnelle Blickwechsel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Kopf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gerade, wenig Bewegung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geneigt, viel Nicken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Sprache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vollständige Sätze, Pausen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Füllwörter, Rechtfertigungen, Entschuldigungen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Tempo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gelassen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hastig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914400" y="5394960"/>
            <a:ext cx="10378440" cy="54864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300" b="1">
                <a:solidFill>
                  <a:srgbClr val="1F2A36"/>
                </a:solidFill>
                <a:latin typeface="Arial"/>
              </a:rPr>
              <a:t>Souverän ist, wer den Status situativ wählen kann – z. B. Hochstatus in der Verhandlung, Tiefstatus beim Zuhören und Entschuldigen.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Präsenz: Erst Wärme, dann Stärke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Cuddy, Kohut &amp; Neffinger (2013) empfehlen Führungskräften: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„Connect, then lead.“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Wer zuerst Vertrauen aufbaut, dessen Kompetenz wird eher akzeptiert.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560320"/>
            <a:ext cx="5029200" cy="310896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Wärme zeigen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Echtes Lächeln und Interesse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Namen merken und verwenden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Zuhören und nachfragen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Gemeinsamkeiten ansprechen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63640" y="2560320"/>
            <a:ext cx="5029200" cy="310896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Stärke zeigen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Klare Aussagen und Empfehlungen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Ruhige Haltung und Stimme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Verantwortung übernehmen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• Vorbereitung sichtbar machen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Authentisch oder angepasst?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Mark Snyder (1974) beschreibt, wie stark Menschen ihr Verhalten an die Situation anpassen (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Self-Monitoring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).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377440"/>
            <a:ext cx="5029200" cy="2834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Hohes Self-Monitoring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flexibel, kommt in vielen Situationen gut an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kann beliebig oder schwer greifbar wirken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63640" y="2377440"/>
            <a:ext cx="5029200" cy="2834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700" b="1">
                <a:solidFill>
                  <a:srgbClr val="0B5394"/>
                </a:solidFill>
                <a:latin typeface="Arial"/>
              </a:rPr>
              <a:t>Niedriges Self-Monitoring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+ berechenbar, glaubwürdig, „echt“</a:t>
            </a:r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– kann starr oder unpassend wirken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5349240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173736" rIns="173736" tIns="137160" bIns="137160"/>
          <a:lstStyle/>
          <a:p>
            <a:pPr algn="l"/>
            <a:r>
              <a:rPr sz="1400" b="1">
                <a:solidFill>
                  <a:srgbClr val="1F2A36"/>
                </a:solidFill>
                <a:latin typeface="Arial"/>
              </a:rPr>
              <a:t>Authentisch heißt nicht „immer so, wie mir gerade ist“, sondern: Mein Verhalten passt zu meinen Werten – die Form darf ich der Situation anpassen.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Nervosität und Lampenfieber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Lampenfieber ist normal – und in Maßen sogar hilfreich. Andere bemerken es meist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weniger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, als wir glauben.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Umdeuten statt beruhigen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Alison Wood Brooks (2014): Wer sich vor einer Rede sagte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„Ich bin aufgeregt“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(im Sinne von begeistert), schnitt besser ab als jemand, der versuchte, sich zu beruhigen.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Was außerdem hilft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Vorbereitung: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die ersten drei Sätze auswendig können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Atmung: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länger aus- als einatmen (z. B. 4 Sek. ein, 6 Sek. aus)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Bewegung: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vorher kurz gehen, Schultern lockern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Freundliche Gesichter: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zu Beginn Blickkontakt mit wohlwollenden Personen suchen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Strategien der Selbstdarstellung (Impression Management)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35661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17520"/>
                <a:gridCol w="3474720"/>
                <a:gridCol w="38862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Strategie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Ziel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Risiko bei Übertreibung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Sich beliebt machen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sympathisch wirken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wirkt anbiedernd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Eigenwerbung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kompetent wirken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wirkt arrogant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Vorbildlichkeit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moralisch integer wirken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wirkt scheinheilig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Einschüchterung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gefährlich / mächtig wirken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Angst, Widerstand, Abwendung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5394"/>
                          </a:solidFill>
                          <a:latin typeface="Arial"/>
                        </a:rPr>
                        <a:t>Hilfsbedürftigkeit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Unterstützung erhalten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6"/>
                          </a:solidFill>
                          <a:latin typeface="Arial"/>
                        </a:rPr>
                        <a:t>wirkt inkompetent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Rounded Rectangle 128"/>
          <p:cNvSpPr/>
          <p:nvPr/>
        </p:nvSpPr>
        <p:spPr>
          <a:xfrm>
            <a:off x="914400" y="5486400"/>
            <a:ext cx="10378440" cy="4572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300" b="1">
                <a:solidFill>
                  <a:srgbClr val="3D85C6"/>
                </a:solidFill>
                <a:latin typeface="Arial"/>
              </a:rPr>
              <a:t>Nach Jones &amp; Pittman (1982). Jede Strategie ist legitim – in Maßen und passend zur Situation.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Souveränität und Präsenz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Kurzpräsentation mit Videofeedback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eigene Wirkung vor einer Gruppe erleben und gezielt verbessern.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Bereiten Sie eine 2-minütige Vorstellung vor: „Wer ich bin und wofür ich stehe.“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Präsentieren Sie stehend vor der Gruppe (Videoaufnahme freiwillig).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Feedback: je eine Stärke und ein Tipp zu Haltung, Stimme und Sprache.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Zweiter Durchgang mit einem konkreten Verbesserungsziel.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60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Plenum oder zwei Gruppen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7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gelingt der Einstieg ins Gespräch?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verschaffe ich mir in Meetings Gehör?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Wie bleibe ich in kritischen Situationen souverän?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Die ersten Sekunden: Begrüßung und Smalltalk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Pentagon 127"/>
          <p:cNvSpPr/>
          <p:nvPr/>
        </p:nvSpPr>
        <p:spPr>
          <a:xfrm>
            <a:off x="914400" y="1920240"/>
            <a:ext cx="2057400" cy="86868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024128" y="1920240"/>
            <a:ext cx="1600200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Blick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297180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Blickkontakt aufnehmen, lächeln</a:t>
            </a:r>
          </a:p>
        </p:txBody>
      </p:sp>
      <p:sp>
        <p:nvSpPr>
          <p:cNvPr id="131" name="Chevron 130"/>
          <p:cNvSpPr/>
          <p:nvPr/>
        </p:nvSpPr>
        <p:spPr>
          <a:xfrm>
            <a:off x="3017520" y="1920240"/>
            <a:ext cx="2057400" cy="868680"/>
          </a:xfrm>
          <a:prstGeom prst="chevron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340842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Name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017520" y="297180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Sich vorstellen, Namen des Gegenübers verwenden</a:t>
            </a:r>
          </a:p>
        </p:txBody>
      </p:sp>
      <p:sp>
        <p:nvSpPr>
          <p:cNvPr id="134" name="Chevron 133"/>
          <p:cNvSpPr/>
          <p:nvPr/>
        </p:nvSpPr>
        <p:spPr>
          <a:xfrm>
            <a:off x="5120640" y="192024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551154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Händedruck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120640" y="297180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Fest, kurz, trocken – mit Blickkontakt</a:t>
            </a:r>
          </a:p>
        </p:txBody>
      </p:sp>
      <p:sp>
        <p:nvSpPr>
          <p:cNvPr id="137" name="Chevron 136"/>
          <p:cNvSpPr/>
          <p:nvPr/>
        </p:nvSpPr>
        <p:spPr>
          <a:xfrm>
            <a:off x="7223759" y="1920240"/>
            <a:ext cx="2057400" cy="868680"/>
          </a:xfrm>
          <a:prstGeom prst="chevron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614665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Smalltalk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223759" y="297180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Offene Fragen, Anlass, gemeinsame Themen</a:t>
            </a:r>
          </a:p>
        </p:txBody>
      </p:sp>
      <p:sp>
        <p:nvSpPr>
          <p:cNvPr id="140" name="Chevron 139"/>
          <p:cNvSpPr/>
          <p:nvPr/>
        </p:nvSpPr>
        <p:spPr>
          <a:xfrm>
            <a:off x="9326880" y="192024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971778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Überleitung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326880" y="297180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Zum Anliegen kommen: „Lassen Sie uns …“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4400" y="4617720"/>
            <a:ext cx="10378440" cy="11430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Gute Smalltalk-Themen: Anreise, Veranstaltung, Branche, aktuelle positive Ereignisse. Zu meiden: Politik, Religion, Geld, Krankheit und Klatsch.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Meetings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Früh etwas sagen: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Wer in den ersten Minuten spricht, wird eher als aktiv wahrgenommen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Sitzposition: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Blickkontakt zur leitenden Person und gute Sichtbarkeit wählen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Kernbotschaft zuerst: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Aussage – Begründung – Beispiel – Schluss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Unterbrechungen souverän begegnen: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„Einen Moment noch – ich komme gleich zum Punkt.“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Ideen sichern: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„Wie ich vorhin vorgeschlagen habe …“ – eigene Beiträge wieder aufgreifen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Zusammenfassen: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Wer den Stand zusammenfasst, wirkt strukturiert und führend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Zuhören zeigen: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Andere zitieren und wertschätzen stärkt die eigene Position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Merksatz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Nicht wer am meisten spricht, wirkt am stärksten – sondern wer zur richtigen Zeit das Richtige sagt.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Der Elevator Pitch: sich in 60 Sekunden vorstellen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Pentagon 127"/>
          <p:cNvSpPr/>
          <p:nvPr/>
        </p:nvSpPr>
        <p:spPr>
          <a:xfrm>
            <a:off x="914400" y="1920240"/>
            <a:ext cx="2057400" cy="868680"/>
          </a:xfrm>
          <a:prstGeom prst="homePlat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024128" y="1920240"/>
            <a:ext cx="1600200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Wer?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2971800"/>
            <a:ext cx="1874519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Name und Rolle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370332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„Ich bin … und leite …“</a:t>
            </a:r>
          </a:p>
        </p:txBody>
      </p:sp>
      <p:sp>
        <p:nvSpPr>
          <p:cNvPr id="132" name="Chevron 131"/>
          <p:cNvSpPr/>
          <p:nvPr/>
        </p:nvSpPr>
        <p:spPr>
          <a:xfrm>
            <a:off x="3017520" y="1920240"/>
            <a:ext cx="2057400" cy="868680"/>
          </a:xfrm>
          <a:prstGeom prst="chevron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40842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Was?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017520" y="2971800"/>
            <a:ext cx="1874519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Was ich tue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017520" y="370332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„Wir sorgen dafür, dass …“</a:t>
            </a:r>
          </a:p>
        </p:txBody>
      </p:sp>
      <p:sp>
        <p:nvSpPr>
          <p:cNvPr id="136" name="Chevron 135"/>
          <p:cNvSpPr/>
          <p:nvPr/>
        </p:nvSpPr>
        <p:spPr>
          <a:xfrm>
            <a:off x="5120640" y="192024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51154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Wozu?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120640" y="2971800"/>
            <a:ext cx="1874519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Nutzen für andere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120640" y="370332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„Das bedeutet für unsere Kunden …“</a:t>
            </a:r>
          </a:p>
        </p:txBody>
      </p:sp>
      <p:sp>
        <p:nvSpPr>
          <p:cNvPr id="140" name="Chevron 139"/>
          <p:cNvSpPr/>
          <p:nvPr/>
        </p:nvSpPr>
        <p:spPr>
          <a:xfrm>
            <a:off x="7223759" y="1920240"/>
            <a:ext cx="2057400" cy="868680"/>
          </a:xfrm>
          <a:prstGeom prst="chevron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614665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Beleg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223759" y="2971800"/>
            <a:ext cx="1874519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Beispiel oder Erfolg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223759" y="370332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„Zuletzt haben wir …“</a:t>
            </a:r>
          </a:p>
        </p:txBody>
      </p:sp>
      <p:sp>
        <p:nvSpPr>
          <p:cNvPr id="144" name="Chevron 143"/>
          <p:cNvSpPr/>
          <p:nvPr/>
        </p:nvSpPr>
        <p:spPr>
          <a:xfrm>
            <a:off x="9326880" y="1920240"/>
            <a:ext cx="2057400" cy="868680"/>
          </a:xfrm>
          <a:prstGeom prst="chevron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9717786" y="1920240"/>
            <a:ext cx="1319022" cy="8686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Weiter?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326880" y="2971800"/>
            <a:ext cx="1874519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82296" rIns="82296"/>
          <a:lstStyle/>
          <a:p>
            <a:pPr algn="ctr"/>
            <a:r>
              <a:rPr sz="1400" b="1">
                <a:solidFill>
                  <a:srgbClr val="1F2A36"/>
                </a:solidFill>
                <a:latin typeface="Arial"/>
              </a:rPr>
              <a:t>Nächster Schritt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326880" y="370332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146304" rIns="146304" tIns="109728" bIns="109728"/>
          <a:lstStyle/>
          <a:p>
            <a:pPr algn="ctr"/>
            <a:r>
              <a:rPr sz="1300" b="0">
                <a:solidFill>
                  <a:srgbClr val="1F2A36"/>
                </a:solidFill>
                <a:latin typeface="Arial"/>
              </a:rPr>
              <a:t>„Wollen wir dazu kurz sprechen?“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14400" y="5349240"/>
            <a:ext cx="10378440" cy="4572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36576" rIns="36576" tIns="0" bIns="0"/>
          <a:lstStyle/>
          <a:p>
            <a:pPr algn="l"/>
            <a:r>
              <a:rPr sz="1400" b="1">
                <a:solidFill>
                  <a:srgbClr val="3D85C6"/>
                </a:solidFill>
                <a:latin typeface="Arial"/>
              </a:rPr>
              <a:t>Nutzen vor Titel: Menschen merken sich, was Sie für sie tun – nicht Ihre Positionsbezeichnung.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Souverän bleiben in kritischen Momenten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1783080"/>
          <a:ext cx="10378440" cy="395020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43200"/>
                <a:gridCol w="3474720"/>
                <a:gridCol w="41605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Souveräne Reaktion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Beispiel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Unsachliche Kritik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Ruhig bleiben, Sachkern herausfiltern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„Was genau stört Sie an dem Vorschlag?“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Angriff vor der Gruppe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Pause, Blickkontakt, Metaebene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merke, das Thema ist Ihnen wichtig. Lassen Sie uns …“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Frage, die ich nicht beantworten kann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Ehrlich sein, Nachlieferung zusagen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„Das prüfe ich und melde mich bis morgen.“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Blackout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Atmen, zusammenfassen, Stichwort nutzen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„Ich fasse kurz zusammen, wo wir stehen …“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Eigener Fehler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Kurz eingestehen, Lösung anbieten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„Da lag ich falsch – korrekt ist …“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Wirkung in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Übung: Schlüsselsituationen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Die Werkzeuge des Tages in realistischen Situationen anwenden.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4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54480" y="240487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Wählen Sie eine Situation: Kundentermin, Meeting-Beitrag, Kritikgespräch oder Präsentation.</a:t>
            </a:r>
          </a:p>
        </p:txBody>
      </p:sp>
      <p:sp>
        <p:nvSpPr>
          <p:cNvPr id="130" name="Oval 129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54480" y="318211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Spielen Sie die ersten zwei Minuten der Situation im Rollenspiel.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54480" y="395935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Beobachtende achten auf Körpersprache, Stimme, Sprache und Status.</a:t>
            </a:r>
          </a:p>
        </p:txBody>
      </p:sp>
      <p:sp>
        <p:nvSpPr>
          <p:cNvPr id="134" name="Oval 133"/>
          <p:cNvSpPr/>
          <p:nvPr/>
        </p:nvSpPr>
        <p:spPr>
          <a:xfrm>
            <a:off x="914400" y="4846320"/>
            <a:ext cx="502920" cy="5029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554480" y="4736592"/>
            <a:ext cx="6035040" cy="73152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ctr" wrap="square" lIns="54864" rIns="54864" tIns="18288" bIns="18288"/>
          <a:lstStyle/>
          <a:p>
            <a:pPr algn="l"/>
            <a:r>
              <a:rPr sz="1500" b="0">
                <a:solidFill>
                  <a:srgbClr val="1F2A36"/>
                </a:solidFill>
                <a:latin typeface="Arial"/>
              </a:rPr>
              <a:t>Feedback und zweiter Durchgang mit einer bewussten Veränderung.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251460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t" wrap="square" lIns="265176" rIns="265176" tIns="228600" bIns="228600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Rahmen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Dauer: 40 Minuten</a:t>
            </a:r>
          </a:p>
          <a:p>
            <a:pPr algn="l"/>
          </a:p>
          <a:p>
            <a:pPr algn="l"/>
            <a:r>
              <a:rPr sz="1400" b="0">
                <a:solidFill>
                  <a:srgbClr val="1F2A36"/>
                </a:solidFill>
                <a:latin typeface="Arial"/>
              </a:rPr>
              <a:t>Form: Dreiergruppen: Akteur/in, Gegenüber, Beobachter/in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f41934599b_0_276"/>
          <p:cNvSpPr txBox="1"/>
          <p:nvPr>
            <p:ph idx="1" type="body"/>
          </p:nvPr>
        </p:nvSpPr>
        <p:spPr>
          <a:xfrm>
            <a:off x="838200" y="933450"/>
            <a:ext cx="10515600" cy="5243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de-DE" sz="1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Modul 8</a:t>
            </a: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23444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1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Was ist mein persönliches Wirkungsziel?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480560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2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Woran arbeite ich konkret?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3337560"/>
            <a:ext cx="30175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t" wrap="square" lIns="201168" rIns="201168" tIns="164592" bIns="164592"/>
          <a:lstStyle/>
          <a:p>
            <a:pPr algn="ctr"/>
            <a:r>
              <a:rPr sz="1200" b="1">
                <a:solidFill>
                  <a:srgbClr val="3D85C6"/>
                </a:solidFill>
                <a:latin typeface="Arial"/>
              </a:rPr>
              <a:t>Leitfrage 3</a:t>
            </a:r>
          </a:p>
          <a:p>
            <a:pPr algn="ctr"/>
            <a:r>
              <a:rPr sz="1400" b="0">
                <a:solidFill>
                  <a:srgbClr val="1F2A36"/>
                </a:solidFill>
                <a:latin typeface="Arial"/>
              </a:rPr>
              <a:t>Wer gibt mir Feedback?</a:t>
            </a:r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Selbstcheck: Mein Wirkungsprofil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Bewerten Sie sich von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1 (trifft nicht zu)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bis </a:t>
            </a:r>
            <a:r>
              <a:rPr lang="de-DE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5 (trifft voll zu)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– und lassen Sie eine Vertrauensperson denselben Bogen für Sie ausfüllen.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914400" y="2423160"/>
          <a:ext cx="10378440" cy="32186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5989320"/>
                <a:gridCol w="1005840"/>
                <a:gridCol w="10058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Bereich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Aussage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Selbst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Fremd</a:t>
                      </a:r>
                    </a:p>
                  </a:txBody>
                  <a:tcPr marL="73152" marR="73152" marT="36576" marB="36576" anchor="ctr">
                    <a:solidFill>
                      <a:srgbClr val="0B539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Erster Eindruck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begrüße Menschen offen, mit Blickkontakt und Namen.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Körpersprache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stehe und sitze aufrecht und ruhig.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Körpersprache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Meine Gestik unterstützt, was ich sage.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Stimme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spreche deutlich, mit Pausen und angemessenem Tempo.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Sprache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Ich formuliere klar und ohne Weichmacher.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Erscheinungsbild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Mein Äußeres passt zu Rolle und Anlass.</a:t>
                      </a:r>
                    </a:p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DCE8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5394"/>
                          </a:solidFill>
                          <a:latin typeface="Arial"/>
                        </a:rPr>
                        <a:t>Souveränität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Arial"/>
                        </a:rPr>
                        <a:t>Auch unter Druck bleibe ich ruhig und freundlich.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Mein persönlicher Transferplan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Beantworten Sie die Fragen schriftlich – konkret, realistisch und mit Termin.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Rounded Rectangle 127"/>
          <p:cNvSpPr/>
          <p:nvPr/>
        </p:nvSpPr>
        <p:spPr>
          <a:xfrm>
            <a:off x="914400" y="2377440"/>
            <a:ext cx="10378440" cy="576072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So möchte ich künftig wirken (drei Eigenschaften):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14400" y="3063240"/>
            <a:ext cx="10378440" cy="576072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Das behalte ich bei – das wirkt schon gut: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14400" y="3749039"/>
            <a:ext cx="10378440" cy="576072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Diese eine Verhaltensweise verändere ich ab morgen: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14400" y="4434840"/>
            <a:ext cx="10378440" cy="576072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In dieser Situation probiere ich es zuerst aus: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4400" y="5120640"/>
            <a:ext cx="10378440" cy="576072"/>
          </a:xfrm>
          <a:prstGeom prst="roundRect">
            <a:avLst>
              <a:gd name="adj" fmla="val 10000"/>
            </a:avLst>
          </a:prstGeom>
          <a:solidFill>
            <a:srgbClr val="DCE8F3"/>
          </a:solidFill>
          <a:ln>
            <a:noFill/>
          </a:ln>
        </p:spPr>
        <p:txBody>
          <a:bodyPr rtlCol="0" anchor="ctr" wrap="square" lIns="219456" rIns="219456" tIns="182880" bIns="182880"/>
          <a:lstStyle/>
          <a:p>
            <a:pPr algn="l"/>
            <a:r>
              <a:rPr sz="1500" b="1">
                <a:solidFill>
                  <a:srgbClr val="0B5394"/>
                </a:solidFill>
                <a:latin typeface="Arial"/>
              </a:rPr>
              <a:t>Diese Person bitte ich in vier Wochen um Feedback: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Zusammenfassung: Die wichtigsten Erkenntnisse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Oval 127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783080" y="173736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Wirkung entsteht beim anderen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Wir können sie gestalten, aber nicht kontrollieren.</a:t>
            </a:r>
          </a:p>
        </p:txBody>
      </p:sp>
      <p:sp>
        <p:nvSpPr>
          <p:cNvPr id="130" name="Oval 129"/>
          <p:cNvSpPr/>
          <p:nvPr/>
        </p:nvSpPr>
        <p:spPr>
          <a:xfrm>
            <a:off x="6172200" y="1828800"/>
            <a:ext cx="731520" cy="73152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040880" y="173736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Der erste Eindruck zählt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Wärme zuerst, dann Kompetenz – in den ersten Sekunden.</a:t>
            </a:r>
          </a:p>
        </p:txBody>
      </p:sp>
      <p:sp>
        <p:nvSpPr>
          <p:cNvPr id="132" name="Oval 131"/>
          <p:cNvSpPr/>
          <p:nvPr/>
        </p:nvSpPr>
        <p:spPr>
          <a:xfrm>
            <a:off x="914400" y="3108960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783080" y="301752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Das Fremdbild kennen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Feedback verkleinert den blinden Fleck.</a:t>
            </a:r>
          </a:p>
        </p:txBody>
      </p:sp>
      <p:sp>
        <p:nvSpPr>
          <p:cNvPr id="134" name="Oval 133"/>
          <p:cNvSpPr/>
          <p:nvPr/>
        </p:nvSpPr>
        <p:spPr>
          <a:xfrm>
            <a:off x="6172200" y="3108960"/>
            <a:ext cx="731520" cy="73152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040880" y="301752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Kongruenz überzeugt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Wort, Stimme und Körper senden dieselbe Botschaft.</a:t>
            </a:r>
          </a:p>
        </p:txBody>
      </p:sp>
      <p:sp>
        <p:nvSpPr>
          <p:cNvPr id="136" name="Oval 135"/>
          <p:cNvSpPr/>
          <p:nvPr/>
        </p:nvSpPr>
        <p:spPr>
          <a:xfrm>
            <a:off x="914400" y="4389120"/>
            <a:ext cx="731520" cy="73152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783080" y="429768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Souveränität ist Verhalten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Haltung, Pausen und klare Sprache lassen sich trainieren.</a:t>
            </a:r>
          </a:p>
        </p:txBody>
      </p:sp>
      <p:sp>
        <p:nvSpPr>
          <p:cNvPr id="138" name="Oval 137"/>
          <p:cNvSpPr/>
          <p:nvPr/>
        </p:nvSpPr>
        <p:spPr>
          <a:xfrm>
            <a:off x="6172200" y="4389120"/>
            <a:ext cx="731520" cy="73152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040880" y="4297680"/>
            <a:ext cx="4206240" cy="109728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txBody>
          <a:bodyPr rtlCol="0" anchor="t" wrap="square" lIns="54864" rIns="54864" tIns="18288" bIns="18288"/>
          <a:lstStyle/>
          <a:p>
            <a:pPr algn="l"/>
            <a:r>
              <a:rPr sz="1600" b="1">
                <a:solidFill>
                  <a:srgbClr val="0B5394"/>
                </a:solidFill>
                <a:latin typeface="Arial"/>
              </a:rPr>
              <a:t>Authentisch bleiben</a:t>
            </a:r>
          </a:p>
          <a:p>
            <a:pPr algn="l"/>
            <a:r>
              <a:rPr sz="1300" b="0">
                <a:solidFill>
                  <a:srgbClr val="1F2A36"/>
                </a:solidFill>
                <a:latin typeface="Arial"/>
              </a:rPr>
              <a:t>Die Form anpassen, die eigenen Werte behalten.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" name="Google Shape;124;g3f41934599b_0_14"/>
          <p:cNvSpPr txBox="1"/>
          <p:nvPr>
            <p:ph idx="1" type="body"/>
          </p:nvPr>
        </p:nvSpPr>
        <p:spPr>
          <a:xfrm>
            <a:off x="838200" y="756450"/>
            <a:ext cx="10515600" cy="5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9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Transfer in den Alltag</a:t>
            </a: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18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Literaturempfehlungen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Cuddy, A. (2016):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Dein Körper spricht für dich. München: Mosaik.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Johnstone, K. (2010):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Improvisation und Theater. Berlin: Alexander Verlag.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Molcho, S. (2013):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Alles über Körpersprache. München: Goldmann.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Navarro, J. (2011):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Menschen lesen. München: mvg.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Schulz von Thun, F. (1981):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Miteinander reden 1. Reinbek: Rowohlt.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Watzlawick, P., Beavin, J. &amp; Jackson, D. (2016):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Menschliche Kommunikation. Bern: Hogrefe.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Kahneman, D. (2012):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Schnelles Denken, langsames Denken. München: Siedler.</a:t>
            </a:r>
          </a:p>
          <a:p>
            <a:pPr indent="-3365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Arial"/>
              <a:buChar char="●"/>
            </a:pPr>
            <a:r>
              <a:rPr lang="de-DE" sz="16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 xml:space="preserve">Fiske, S., Cuddy, A. &amp; Glick, P. (2007):</a:t>
            </a:r>
            <a:r>
              <a:rPr lang="de-DE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Universal dimensions of social cognition. Trends in Cognitive Sciences, 11(2).</a:t>
            </a:r>
          </a:p>
        </p:txBody>
      </p:sp>
      <p:sp>
        <p:nvSpPr>
          <p:cNvPr id="125" name="Google Shape;125;g3f41934599b_0_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www.manager-akademie.net</a:t>
            </a:r>
            <a:endParaRPr/>
          </a:p>
        </p:txBody>
      </p:sp>
      <p:sp>
        <p:nvSpPr>
          <p:cNvPr id="126" name="Google Shape;126;g3f41934599b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27" name="Google Shape;127;g3f41934599b_0_14">
            <a:hlinkClick r:id="rId3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7925" y="117675"/>
            <a:ext cx="1042001" cy="63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2019-04-29T15:47:39Z</dcterms:created>
  <dc:creator>Martin</dc:creator>
</cp:coreProperties>
</file>