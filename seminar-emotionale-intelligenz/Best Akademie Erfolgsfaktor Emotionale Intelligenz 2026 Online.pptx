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14" r:id="rId77"/>
    <p:sldId id="315" r:id="rId78"/>
    <p:sldId id="316" r:id="rId79"/>
    <p:sldId id="317" r:id="rId80"/>
    <p:sldId id="318" r:id="rId81"/>
    <p:sldId id="319" r:id="rId82"/>
    <p:sldId id="320" r:id="rId83"/>
    <p:sldId id="321" r:id="rId84"/>
    <p:sldId id="322" r:id="rId85"/>
    <p:sldId id="323" r:id="rId86"/>
    <p:sldId id="324" r:id="rId87"/>
    <p:sldId id="325" r:id="rId88"/>
    <p:sldId id="326" r:id="rId89"/>
    <p:sldId id="327" r:id="rId90"/>
    <p:sldId id="328" r:id="rId91"/>
    <p:sldId id="329" r:id="rId92"/>
    <p:sldId id="330" r:id="rId93"/>
    <p:sldId id="331" r:id="rId94"/>
    <p:sldId id="332" r:id="rId95"/>
    <p:sldId id="333" r:id="rId96"/>
    <p:sldId id="334" r:id="rId97"/>
    <p:sldId id="335" r:id="rId98"/>
    <p:sldId id="336" r:id="rId99"/>
    <p:sldId id="337" r:id="rId100"/>
    <p:sldId id="338" r:id="rId101"/>
    <p:sldId id="339" r:id="rId102"/>
    <p:sldId id="340" r:id="rId103"/>
    <p:sldId id="277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PwvTRe6/ydCp9oMqdii+Fx5gO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7" Type="http://schemas.openxmlformats.org/officeDocument/2006/relationships/slide" Target="slides/slide22.xml"/><Relationship Id="rId28" Type="http://schemas.openxmlformats.org/officeDocument/2006/relationships/font" Target="fonts/Poppins-regular.fntdata"/><Relationship Id="rId29" Type="http://schemas.openxmlformats.org/officeDocument/2006/relationships/font" Target="fonts/Poppins-bold.fntdata"/><Relationship Id="rId30" Type="http://schemas.openxmlformats.org/officeDocument/2006/relationships/font" Target="fonts/Poppins-italic.fntdata"/><Relationship Id="rId31" Type="http://schemas.openxmlformats.org/officeDocument/2006/relationships/font" Target="fonts/Poppins-boldItalic.fntdata"/><Relationship Id="rId32" Type="http://schemas.openxmlformats.org/officeDocument/2006/relationships/font" Target="fonts/PoppinsSemiBold-regular.fntdata"/><Relationship Id="rId33" Type="http://schemas.openxmlformats.org/officeDocument/2006/relationships/font" Target="fonts/PoppinsSemiBold-bold.fntdata"/><Relationship Id="rId34" Type="http://schemas.openxmlformats.org/officeDocument/2006/relationships/font" Target="fonts/PoppinsSemiBold-italic.fntdata"/><Relationship Id="rId35" Type="http://schemas.openxmlformats.org/officeDocument/2006/relationships/font" Target="fonts/PoppinsSemiBold-boldItalic.fntdata"/><Relationship Id="rId36" Type="http://schemas.openxmlformats.org/officeDocument/2006/relationships/font" Target="fonts/CenturyGothic-regular.fntdata"/><Relationship Id="rId37" Type="http://schemas.openxmlformats.org/officeDocument/2006/relationships/font" Target="fonts/CenturyGothic-bold.fntdata"/><Relationship Id="rId38" Type="http://schemas.openxmlformats.org/officeDocument/2006/relationships/font" Target="fonts/CenturyGothic-italic.fntdata"/><Relationship Id="rId39" Type="http://schemas.openxmlformats.org/officeDocument/2006/relationships/font" Target="fonts/CenturyGothic-boldItalic.fntdata"/><Relationship Id="rId40" Type="http://customschemas.google.com/relationships/presentationmetadata" Target="metadata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Relationship Id="rId59" Type="http://schemas.openxmlformats.org/officeDocument/2006/relationships/slide" Target="slides/slide41.xml"/><Relationship Id="rId60" Type="http://schemas.openxmlformats.org/officeDocument/2006/relationships/slide" Target="slides/slide42.xml"/><Relationship Id="rId61" Type="http://schemas.openxmlformats.org/officeDocument/2006/relationships/slide" Target="slides/slide43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4" Type="http://schemas.openxmlformats.org/officeDocument/2006/relationships/slide" Target="slides/slide46.xml"/><Relationship Id="rId65" Type="http://schemas.openxmlformats.org/officeDocument/2006/relationships/slide" Target="slides/slide47.xml"/><Relationship Id="rId66" Type="http://schemas.openxmlformats.org/officeDocument/2006/relationships/slide" Target="slides/slide48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Relationship Id="rId74" Type="http://schemas.openxmlformats.org/officeDocument/2006/relationships/slide" Target="slides/slide56.xml"/><Relationship Id="rId75" Type="http://schemas.openxmlformats.org/officeDocument/2006/relationships/slide" Target="slides/slide57.xml"/><Relationship Id="rId76" Type="http://schemas.openxmlformats.org/officeDocument/2006/relationships/slide" Target="slides/slide58.xml"/><Relationship Id="rId77" Type="http://schemas.openxmlformats.org/officeDocument/2006/relationships/slide" Target="slides/slide59.xml"/><Relationship Id="rId78" Type="http://schemas.openxmlformats.org/officeDocument/2006/relationships/slide" Target="slides/slide60.xml"/><Relationship Id="rId79" Type="http://schemas.openxmlformats.org/officeDocument/2006/relationships/slide" Target="slides/slide61.xml"/><Relationship Id="rId80" Type="http://schemas.openxmlformats.org/officeDocument/2006/relationships/slide" Target="slides/slide62.xml"/><Relationship Id="rId81" Type="http://schemas.openxmlformats.org/officeDocument/2006/relationships/slide" Target="slides/slide63.xml"/><Relationship Id="rId82" Type="http://schemas.openxmlformats.org/officeDocument/2006/relationships/slide" Target="slides/slide64.xml"/><Relationship Id="rId83" Type="http://schemas.openxmlformats.org/officeDocument/2006/relationships/slide" Target="slides/slide65.xml"/><Relationship Id="rId84" Type="http://schemas.openxmlformats.org/officeDocument/2006/relationships/slide" Target="slides/slide66.xml"/><Relationship Id="rId85" Type="http://schemas.openxmlformats.org/officeDocument/2006/relationships/slide" Target="slides/slide67.xml"/><Relationship Id="rId86" Type="http://schemas.openxmlformats.org/officeDocument/2006/relationships/slide" Target="slides/slide68.xml"/><Relationship Id="rId87" Type="http://schemas.openxmlformats.org/officeDocument/2006/relationships/slide" Target="slides/slide69.xml"/><Relationship Id="rId88" Type="http://schemas.openxmlformats.org/officeDocument/2006/relationships/slide" Target="slides/slide70.xml"/><Relationship Id="rId89" Type="http://schemas.openxmlformats.org/officeDocument/2006/relationships/slide" Target="slides/slide71.xml"/><Relationship Id="rId90" Type="http://schemas.openxmlformats.org/officeDocument/2006/relationships/slide" Target="slides/slide72.xml"/><Relationship Id="rId91" Type="http://schemas.openxmlformats.org/officeDocument/2006/relationships/slide" Target="slides/slide73.xml"/><Relationship Id="rId92" Type="http://schemas.openxmlformats.org/officeDocument/2006/relationships/slide" Target="slides/slide74.xml"/><Relationship Id="rId93" Type="http://schemas.openxmlformats.org/officeDocument/2006/relationships/slide" Target="slides/slide75.xml"/><Relationship Id="rId94" Type="http://schemas.openxmlformats.org/officeDocument/2006/relationships/slide" Target="slides/slide76.xml"/><Relationship Id="rId95" Type="http://schemas.openxmlformats.org/officeDocument/2006/relationships/slide" Target="slides/slide77.xml"/><Relationship Id="rId96" Type="http://schemas.openxmlformats.org/officeDocument/2006/relationships/slide" Target="slides/slide78.xml"/><Relationship Id="rId97" Type="http://schemas.openxmlformats.org/officeDocument/2006/relationships/slide" Target="slides/slide79.xml"/><Relationship Id="rId98" Type="http://schemas.openxmlformats.org/officeDocument/2006/relationships/slide" Target="slides/slide80.xml"/><Relationship Id="rId99" Type="http://schemas.openxmlformats.org/officeDocument/2006/relationships/slide" Target="slides/slide81.xml"/><Relationship Id="rId100" Type="http://schemas.openxmlformats.org/officeDocument/2006/relationships/slide" Target="slides/slide82.xml"/><Relationship Id="rId101" Type="http://schemas.openxmlformats.org/officeDocument/2006/relationships/slide" Target="slides/slide83.xml"/><Relationship Id="rId102" Type="http://schemas.openxmlformats.org/officeDocument/2006/relationships/slide" Target="slides/slide84.xml"/><Relationship Id="rId103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fc9e81fc1_0_2912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r>
              <a:t>Begrüßung, technische Hinweise (Kamera an, Mikro stumm, Chat nutzen), kurzer Überblick über den Tag.</a:t>
            </a:r>
          </a:p>
        </p:txBody>
      </p:sp>
      <p:sp>
        <p:nvSpPr>
          <p:cNvPr id="205" name="Google Shape;205;g3bfc9e81fc1_0_2912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fc9e81fc1_0_27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r>
              <a:t>Offene Fragen klären, Feedbackrunde (Blitzlicht), Verabschiedung.</a:t>
            </a:r>
          </a:p>
        </p:txBody>
      </p:sp>
      <p:sp>
        <p:nvSpPr>
          <p:cNvPr id="373" name="Google Shape;373;g3bfc9e81fc1_0_278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Erwartungen im Chat sammeln und am Ende des Tages wieder aufgreifen.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Feedbackregeln vorher kurz wiederholen: beschreiben statt bewerten, Ich-Botschaften, konkret.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Leitfragen für Reframing: Was könnte die andere Person gute Absichten haben? Welche Chance steckt darin? Was würde ein Mentor sagen?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Beobachtungsbogen im Chat bereitstellen: Blickkontakt, Paraphrasen, Gefühlsbenennung, Fragen.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Gruppen frei wählen lassen: Führungskräfte Fall A, Vertrieb Fall B.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bfc9e81fc1_0_3075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bfc9e81fc1_0_3075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bfc9e81fc1_0_3079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bfc9e81fc1_0_3079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fc9e81fc1_0_3082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bfc9e81fc1_0_3082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bfc9e81fc1_0_3082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fc9e81fc1_0_3086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fc9e81fc1_0_3088"/>
          <p:cNvSpPr txBox="1"/>
          <p:nvPr>
            <p:ph idx="1" type="subTitle"/>
          </p:nvPr>
        </p:nvSpPr>
        <p:spPr>
          <a:xfrm>
            <a:off x="838080" y="851040"/>
            <a:ext cx="10515000" cy="30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fc9e81fc1_0_3090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bfc9e81fc1_0_3090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bfc9e81fc1_0_3090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bfc9e81fc1_0_3090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fc9e81fc1_0_3095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bfc9e81fc1_0_3095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bfc9e81fc1_0_3095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bfc9e81fc1_0_3095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fc9e81fc1_0_3100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bfc9e81fc1_0_3100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bfc9e81fc1_0_3100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bfc9e81fc1_0_3100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fc9e81fc1_0_3105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bfc9e81fc1_0_3105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bfc9e81fc1_0_3105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fc9e81fc1_0_3109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bfc9e81fc1_0_3109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bfc9e81fc1_0_3109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bfc9e81fc1_0_3109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bfc9e81fc1_0_3109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fc9e81fc1_0_3115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bfc9e81fc1_0_3115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bfc9e81fc1_0_3115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bfc9e81fc1_0_3115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bfc9e81fc1_0_3115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bfc9e81fc1_0_3115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bfc9e81fc1_0_3115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fc9e81fc1_0_3135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bfc9e81fc1_0_3135"/>
          <p:cNvSpPr txBox="1"/>
          <p:nvPr>
            <p:ph idx="1" type="body"/>
          </p:nvPr>
        </p:nvSpPr>
        <p:spPr>
          <a:xfrm>
            <a:off x="1103312" y="2052918"/>
            <a:ext cx="8946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7" name="Google Shape;77;g3bfc9e81fc1_0_3135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bfc9e81fc1_0_3135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bfc9e81fc1_0_3135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c9e81fc1_0_314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bfc9e81fc1_0_3141"/>
          <p:cNvSpPr txBox="1"/>
          <p:nvPr>
            <p:ph idx="12" type="sldNum"/>
          </p:nvPr>
        </p:nvSpPr>
        <p:spPr>
          <a:xfrm>
            <a:off x="9026658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fc9e81fc1_0_3144"/>
          <p:cNvSpPr txBox="1"/>
          <p:nvPr>
            <p:ph type="ctrTitle"/>
          </p:nvPr>
        </p:nvSpPr>
        <p:spPr>
          <a:xfrm>
            <a:off x="1154955" y="1447800"/>
            <a:ext cx="88257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bfc9e81fc1_0_3144"/>
          <p:cNvSpPr txBox="1"/>
          <p:nvPr>
            <p:ph idx="1" type="subTitle"/>
          </p:nvPr>
        </p:nvSpPr>
        <p:spPr>
          <a:xfrm>
            <a:off x="1154955" y="4777380"/>
            <a:ext cx="88257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g3bfc9e81fc1_0_3144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fc9e81fc1_0_3144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bfc9e81fc1_0_3144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fc9e81fc1_0_3150"/>
          <p:cNvSpPr txBox="1"/>
          <p:nvPr>
            <p:ph type="title"/>
          </p:nvPr>
        </p:nvSpPr>
        <p:spPr>
          <a:xfrm>
            <a:off x="1154956" y="2861733"/>
            <a:ext cx="88257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bfc9e81fc1_0_3150"/>
          <p:cNvSpPr txBox="1"/>
          <p:nvPr>
            <p:ph idx="1" type="body"/>
          </p:nvPr>
        </p:nvSpPr>
        <p:spPr>
          <a:xfrm>
            <a:off x="1154955" y="4777381"/>
            <a:ext cx="8825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g3bfc9e81fc1_0_3150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bfc9e81fc1_0_3150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bfc9e81fc1_0_3150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c9e81fc1_0_3156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bfc9e81fc1_0_3156"/>
          <p:cNvSpPr txBox="1"/>
          <p:nvPr>
            <p:ph idx="1" type="body"/>
          </p:nvPr>
        </p:nvSpPr>
        <p:spPr>
          <a:xfrm>
            <a:off x="1103312" y="2060575"/>
            <a:ext cx="4396200" cy="4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98" name="Google Shape;98;g3bfc9e81fc1_0_3156"/>
          <p:cNvSpPr txBox="1"/>
          <p:nvPr>
            <p:ph idx="2" type="body"/>
          </p:nvPr>
        </p:nvSpPr>
        <p:spPr>
          <a:xfrm>
            <a:off x="5654493" y="2056092"/>
            <a:ext cx="43962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99" name="Google Shape;99;g3bfc9e81fc1_0_3156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bfc9e81fc1_0_3156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bfc9e81fc1_0_315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fc9e81fc1_0_3163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bfc9e81fc1_0_3163"/>
          <p:cNvSpPr txBox="1"/>
          <p:nvPr>
            <p:ph idx="1" type="body"/>
          </p:nvPr>
        </p:nvSpPr>
        <p:spPr>
          <a:xfrm>
            <a:off x="1103313" y="1905000"/>
            <a:ext cx="4396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g3bfc9e81fc1_0_3163"/>
          <p:cNvSpPr txBox="1"/>
          <p:nvPr>
            <p:ph idx="2" type="body"/>
          </p:nvPr>
        </p:nvSpPr>
        <p:spPr>
          <a:xfrm>
            <a:off x="1103312" y="2514600"/>
            <a:ext cx="43962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106" name="Google Shape;106;g3bfc9e81fc1_0_3163"/>
          <p:cNvSpPr txBox="1"/>
          <p:nvPr>
            <p:ph idx="3" type="body"/>
          </p:nvPr>
        </p:nvSpPr>
        <p:spPr>
          <a:xfrm>
            <a:off x="5654495" y="1905000"/>
            <a:ext cx="4396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g3bfc9e81fc1_0_3163"/>
          <p:cNvSpPr txBox="1"/>
          <p:nvPr>
            <p:ph idx="4" type="body"/>
          </p:nvPr>
        </p:nvSpPr>
        <p:spPr>
          <a:xfrm>
            <a:off x="5654495" y="2514600"/>
            <a:ext cx="43962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108" name="Google Shape;108;g3bfc9e81fc1_0_3163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bfc9e81fc1_0_3163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bfc9e81fc1_0_3163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fc9e81fc1_0_3172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bfc9e81fc1_0_3172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bfc9e81fc1_0_3172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bfc9e81fc1_0_3172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fc9e81fc1_0_3177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bfc9e81fc1_0_3177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bfc9e81fc1_0_3177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c9e81fc1_0_3181"/>
          <p:cNvSpPr txBox="1"/>
          <p:nvPr>
            <p:ph type="title"/>
          </p:nvPr>
        </p:nvSpPr>
        <p:spPr>
          <a:xfrm>
            <a:off x="1154953" y="1447800"/>
            <a:ext cx="34011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bfc9e81fc1_0_3181"/>
          <p:cNvSpPr txBox="1"/>
          <p:nvPr>
            <p:ph idx="1" type="body"/>
          </p:nvPr>
        </p:nvSpPr>
        <p:spPr>
          <a:xfrm>
            <a:off x="4784616" y="1447800"/>
            <a:ext cx="5196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2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123" name="Google Shape;123;g3bfc9e81fc1_0_3181"/>
          <p:cNvSpPr txBox="1"/>
          <p:nvPr>
            <p:ph idx="2" type="body"/>
          </p:nvPr>
        </p:nvSpPr>
        <p:spPr>
          <a:xfrm>
            <a:off x="1154953" y="3129280"/>
            <a:ext cx="34011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4" name="Google Shape;124;g3bfc9e81fc1_0_3181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bfc9e81fc1_0_3181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bfc9e81fc1_0_3181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fc9e81fc1_0_3188"/>
          <p:cNvSpPr txBox="1"/>
          <p:nvPr>
            <p:ph type="title"/>
          </p:nvPr>
        </p:nvSpPr>
        <p:spPr>
          <a:xfrm>
            <a:off x="1153907" y="1854192"/>
            <a:ext cx="50928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bfc9e81fc1_0_3188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30" name="Google Shape;130;g3bfc9e81fc1_0_3188"/>
          <p:cNvSpPr txBox="1"/>
          <p:nvPr>
            <p:ph idx="1" type="body"/>
          </p:nvPr>
        </p:nvSpPr>
        <p:spPr>
          <a:xfrm>
            <a:off x="1154954" y="3657600"/>
            <a:ext cx="5085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1" name="Google Shape;131;g3bfc9e81fc1_0_3188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bfc9e81fc1_0_3188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bfc9e81fc1_0_3188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fc9e81fc1_0_3195"/>
          <p:cNvSpPr txBox="1"/>
          <p:nvPr>
            <p:ph type="title"/>
          </p:nvPr>
        </p:nvSpPr>
        <p:spPr>
          <a:xfrm>
            <a:off x="1154956" y="4800587"/>
            <a:ext cx="8825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bfc9e81fc1_0_3195"/>
          <p:cNvSpPr/>
          <p:nvPr>
            <p:ph idx="2" type="pic"/>
          </p:nvPr>
        </p:nvSpPr>
        <p:spPr>
          <a:xfrm>
            <a:off x="1154955" y="685800"/>
            <a:ext cx="8825700" cy="36408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37" name="Google Shape;137;g3bfc9e81fc1_0_3195"/>
          <p:cNvSpPr txBox="1"/>
          <p:nvPr>
            <p:ph idx="1" type="body"/>
          </p:nvPr>
        </p:nvSpPr>
        <p:spPr>
          <a:xfrm>
            <a:off x="1154956" y="5367325"/>
            <a:ext cx="8825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8" name="Google Shape;138;g3bfc9e81fc1_0_3195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bfc9e81fc1_0_3195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bfc9e81fc1_0_3195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fc9e81fc1_0_3202"/>
          <p:cNvSpPr txBox="1"/>
          <p:nvPr>
            <p:ph type="title"/>
          </p:nvPr>
        </p:nvSpPr>
        <p:spPr>
          <a:xfrm>
            <a:off x="1154954" y="1447800"/>
            <a:ext cx="88257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bfc9e81fc1_0_3202"/>
          <p:cNvSpPr txBox="1"/>
          <p:nvPr>
            <p:ph idx="1" type="body"/>
          </p:nvPr>
        </p:nvSpPr>
        <p:spPr>
          <a:xfrm>
            <a:off x="1154954" y="3657600"/>
            <a:ext cx="88257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44" name="Google Shape;144;g3bfc9e81fc1_0_3202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bfc9e81fc1_0_3202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bfc9e81fc1_0_3202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fc9e81fc1_0_3208"/>
          <p:cNvSpPr txBox="1"/>
          <p:nvPr>
            <p:ph type="title"/>
          </p:nvPr>
        </p:nvSpPr>
        <p:spPr>
          <a:xfrm>
            <a:off x="1574801" y="1447800"/>
            <a:ext cx="7999200" cy="23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bfc9e81fc1_0_3208"/>
          <p:cNvSpPr txBox="1"/>
          <p:nvPr>
            <p:ph idx="1" type="body"/>
          </p:nvPr>
        </p:nvSpPr>
        <p:spPr>
          <a:xfrm>
            <a:off x="1930400" y="3771174"/>
            <a:ext cx="7279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0" name="Google Shape;150;g3bfc9e81fc1_0_3208"/>
          <p:cNvSpPr txBox="1"/>
          <p:nvPr>
            <p:ph idx="2" type="body"/>
          </p:nvPr>
        </p:nvSpPr>
        <p:spPr>
          <a:xfrm>
            <a:off x="1154954" y="4350657"/>
            <a:ext cx="88257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1" name="Google Shape;151;g3bfc9e81fc1_0_3208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bfc9e81fc1_0_3208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bfc9e81fc1_0_3208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4" name="Google Shape;154;g3bfc9e81fc1_0_3208"/>
          <p:cNvSpPr txBox="1"/>
          <p:nvPr/>
        </p:nvSpPr>
        <p:spPr>
          <a:xfrm>
            <a:off x="898295" y="971253"/>
            <a:ext cx="801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de-DE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bfc9e81fc1_0_3208"/>
          <p:cNvSpPr txBox="1"/>
          <p:nvPr/>
        </p:nvSpPr>
        <p:spPr>
          <a:xfrm>
            <a:off x="9330490" y="2613787"/>
            <a:ext cx="801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de-DE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fc9e81fc1_0_3217"/>
          <p:cNvSpPr txBox="1"/>
          <p:nvPr>
            <p:ph type="title"/>
          </p:nvPr>
        </p:nvSpPr>
        <p:spPr>
          <a:xfrm>
            <a:off x="1154954" y="3124201"/>
            <a:ext cx="88257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bfc9e81fc1_0_3217"/>
          <p:cNvSpPr txBox="1"/>
          <p:nvPr>
            <p:ph idx="1" type="body"/>
          </p:nvPr>
        </p:nvSpPr>
        <p:spPr>
          <a:xfrm>
            <a:off x="1154954" y="4777381"/>
            <a:ext cx="8825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g3bfc9e81fc1_0_3217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bfc9e81fc1_0_3217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3bfc9e81fc1_0_3217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fc9e81fc1_0_3223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bfc9e81fc1_0_3223"/>
          <p:cNvSpPr txBox="1"/>
          <p:nvPr>
            <p:ph idx="1" type="body"/>
          </p:nvPr>
        </p:nvSpPr>
        <p:spPr>
          <a:xfrm>
            <a:off x="632947" y="1981200"/>
            <a:ext cx="29469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65" name="Google Shape;165;g3bfc9e81fc1_0_3223"/>
          <p:cNvSpPr txBox="1"/>
          <p:nvPr>
            <p:ph idx="2" type="body"/>
          </p:nvPr>
        </p:nvSpPr>
        <p:spPr>
          <a:xfrm>
            <a:off x="652463" y="2667000"/>
            <a:ext cx="29274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66" name="Google Shape;166;g3bfc9e81fc1_0_3223"/>
          <p:cNvSpPr txBox="1"/>
          <p:nvPr>
            <p:ph idx="3" type="body"/>
          </p:nvPr>
        </p:nvSpPr>
        <p:spPr>
          <a:xfrm>
            <a:off x="3883659" y="1981200"/>
            <a:ext cx="2936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67" name="Google Shape;167;g3bfc9e81fc1_0_3223"/>
          <p:cNvSpPr txBox="1"/>
          <p:nvPr>
            <p:ph idx="4" type="body"/>
          </p:nvPr>
        </p:nvSpPr>
        <p:spPr>
          <a:xfrm>
            <a:off x="3873106" y="2667000"/>
            <a:ext cx="29469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68" name="Google Shape;168;g3bfc9e81fc1_0_3223"/>
          <p:cNvSpPr txBox="1"/>
          <p:nvPr>
            <p:ph idx="5" type="body"/>
          </p:nvPr>
        </p:nvSpPr>
        <p:spPr>
          <a:xfrm>
            <a:off x="7124700" y="1981200"/>
            <a:ext cx="2932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69" name="Google Shape;169;g3bfc9e81fc1_0_3223"/>
          <p:cNvSpPr txBox="1"/>
          <p:nvPr>
            <p:ph idx="6" type="body"/>
          </p:nvPr>
        </p:nvSpPr>
        <p:spPr>
          <a:xfrm>
            <a:off x="7124700" y="2667000"/>
            <a:ext cx="2932200" cy="35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70" name="Google Shape;170;g3bfc9e81fc1_0_3223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g3bfc9e81fc1_0_3223"/>
          <p:cNvCxnSpPr/>
          <p:nvPr/>
        </p:nvCxnSpPr>
        <p:spPr>
          <a:xfrm>
            <a:off x="6962227" y="2133600"/>
            <a:ext cx="0" cy="39669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bfc9e81fc1_0_3223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bfc9e81fc1_0_3223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bfc9e81fc1_0_3223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fc9e81fc1_0_3236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bfc9e81fc1_0_3236"/>
          <p:cNvSpPr txBox="1"/>
          <p:nvPr>
            <p:ph idx="1" type="body"/>
          </p:nvPr>
        </p:nvSpPr>
        <p:spPr>
          <a:xfrm>
            <a:off x="652463" y="4250949"/>
            <a:ext cx="2940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78" name="Google Shape;178;g3bfc9e81fc1_0_3236"/>
          <p:cNvSpPr/>
          <p:nvPr>
            <p:ph idx="2" type="pic"/>
          </p:nvPr>
        </p:nvSpPr>
        <p:spPr>
          <a:xfrm>
            <a:off x="652463" y="2209800"/>
            <a:ext cx="294000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79" name="Google Shape;179;g3bfc9e81fc1_0_3236"/>
          <p:cNvSpPr txBox="1"/>
          <p:nvPr>
            <p:ph idx="3" type="body"/>
          </p:nvPr>
        </p:nvSpPr>
        <p:spPr>
          <a:xfrm>
            <a:off x="652463" y="4827211"/>
            <a:ext cx="29400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80" name="Google Shape;180;g3bfc9e81fc1_0_3236"/>
          <p:cNvSpPr txBox="1"/>
          <p:nvPr>
            <p:ph idx="4" type="body"/>
          </p:nvPr>
        </p:nvSpPr>
        <p:spPr>
          <a:xfrm>
            <a:off x="3889375" y="4250949"/>
            <a:ext cx="2930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81" name="Google Shape;181;g3bfc9e81fc1_0_3236"/>
          <p:cNvSpPr/>
          <p:nvPr>
            <p:ph idx="5" type="pic"/>
          </p:nvPr>
        </p:nvSpPr>
        <p:spPr>
          <a:xfrm>
            <a:off x="3889374" y="2209800"/>
            <a:ext cx="293040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82" name="Google Shape;182;g3bfc9e81fc1_0_3236"/>
          <p:cNvSpPr txBox="1"/>
          <p:nvPr>
            <p:ph idx="6" type="body"/>
          </p:nvPr>
        </p:nvSpPr>
        <p:spPr>
          <a:xfrm>
            <a:off x="3888022" y="4827210"/>
            <a:ext cx="2934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83" name="Google Shape;183;g3bfc9e81fc1_0_3236"/>
          <p:cNvSpPr txBox="1"/>
          <p:nvPr>
            <p:ph idx="7" type="body"/>
          </p:nvPr>
        </p:nvSpPr>
        <p:spPr>
          <a:xfrm>
            <a:off x="7124700" y="4250949"/>
            <a:ext cx="2932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84" name="Google Shape;184;g3bfc9e81fc1_0_3236"/>
          <p:cNvSpPr/>
          <p:nvPr>
            <p:ph idx="8" type="pic"/>
          </p:nvPr>
        </p:nvSpPr>
        <p:spPr>
          <a:xfrm>
            <a:off x="7124699" y="2209800"/>
            <a:ext cx="293220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85" name="Google Shape;185;g3bfc9e81fc1_0_3236"/>
          <p:cNvSpPr txBox="1"/>
          <p:nvPr>
            <p:ph idx="9" type="body"/>
          </p:nvPr>
        </p:nvSpPr>
        <p:spPr>
          <a:xfrm>
            <a:off x="7124575" y="4827208"/>
            <a:ext cx="29361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86" name="Google Shape;186;g3bfc9e81fc1_0_3236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g3bfc9e81fc1_0_3236"/>
          <p:cNvCxnSpPr/>
          <p:nvPr/>
        </p:nvCxnSpPr>
        <p:spPr>
          <a:xfrm>
            <a:off x="6962227" y="2133600"/>
            <a:ext cx="0" cy="39669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g3bfc9e81fc1_0_3236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bfc9e81fc1_0_3236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bfc9e81fc1_0_323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fc9e81fc1_0_3252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bfc9e81fc1_0_3252"/>
          <p:cNvSpPr txBox="1"/>
          <p:nvPr>
            <p:ph idx="1" type="body"/>
          </p:nvPr>
        </p:nvSpPr>
        <p:spPr>
          <a:xfrm rot="5400000">
            <a:off x="3478803" y="-322632"/>
            <a:ext cx="4195500" cy="89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4" name="Google Shape;194;g3bfc9e81fc1_0_3252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bfc9e81fc1_0_3252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bfc9e81fc1_0_3252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fc9e81fc1_0_3258"/>
          <p:cNvSpPr txBox="1"/>
          <p:nvPr>
            <p:ph type="title"/>
          </p:nvPr>
        </p:nvSpPr>
        <p:spPr>
          <a:xfrm rot="5400000">
            <a:off x="6267513" y="2466913"/>
            <a:ext cx="5826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bfc9e81fc1_0_3258"/>
          <p:cNvSpPr txBox="1"/>
          <p:nvPr>
            <p:ph idx="1" type="body"/>
          </p:nvPr>
        </p:nvSpPr>
        <p:spPr>
          <a:xfrm rot="5400000">
            <a:off x="1679613" y="-139786"/>
            <a:ext cx="5368800" cy="7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0" name="Google Shape;200;g3bfc9e81fc1_0_3258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bfc9e81fc1_0_3258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bfc9e81fc1_0_3258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0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fc9e81fc1_0_3066"/>
          <p:cNvSpPr/>
          <p:nvPr/>
        </p:nvSpPr>
        <p:spPr>
          <a:xfrm>
            <a:off x="0" y="6492960"/>
            <a:ext cx="12191400" cy="364200"/>
          </a:xfrm>
          <a:prstGeom prst="rect">
            <a:avLst/>
          </a:prstGeom>
          <a:gradFill>
            <a:gsLst>
              <a:gs pos="0">
                <a:srgbClr val="38A9AD"/>
              </a:gs>
              <a:gs pos="100000">
                <a:srgbClr val="005E6E"/>
              </a:gs>
            </a:gsLst>
            <a:lin ang="8100019" scaled="0"/>
          </a:gra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g3bfc9e81fc1_0_3066"/>
          <p:cNvSpPr/>
          <p:nvPr/>
        </p:nvSpPr>
        <p:spPr>
          <a:xfrm>
            <a:off x="4988880" y="6571080"/>
            <a:ext cx="22134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de-DE" sz="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www.best-akademie.de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in Bild, das Text, Schrift, Screenshot, Grafiken enthält.&#10;&#10;Automatisch generierte Beschreibung" id="8" name="Google Shape;8;g3bfc9e81fc1_0_30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33680" y="195120"/>
            <a:ext cx="1439281" cy="339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n Bild, das Person, Kleidung, Menschliches Gesicht, Mann enthält.&#10;&#10;Automatisch generierte Beschreibung" id="9" name="Google Shape;9;g3bfc9e81fc1_0_3066"/>
          <p:cNvPicPr preferRelativeResize="0"/>
          <p:nvPr/>
        </p:nvPicPr>
        <p:blipFill rotWithShape="1">
          <a:blip r:embed="rId2">
            <a:alphaModFix/>
          </a:blip>
          <a:srcRect b="-5133" l="2257" r="19360" t="157"/>
          <a:stretch/>
        </p:blipFill>
        <p:spPr>
          <a:xfrm>
            <a:off x="0" y="0"/>
            <a:ext cx="12203280" cy="6839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bfc9e81fc1_0_3066"/>
          <p:cNvSpPr/>
          <p:nvPr/>
        </p:nvSpPr>
        <p:spPr>
          <a:xfrm>
            <a:off x="245880" y="351360"/>
            <a:ext cx="1859400" cy="3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in Bild, das Text, Schrift, Screenshot, Grafiken enthält.&#10;&#10;Automatisch generierte Beschreibung" id="11" name="Google Shape;11;g3bfc9e81fc1_0_30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0160" y="316440"/>
            <a:ext cx="1993681" cy="470160"/>
          </a:xfrm>
          <a:prstGeom prst="rect">
            <a:avLst/>
          </a:prstGeom>
          <a:noFill/>
          <a:ln>
            <a:noFill/>
          </a:ln>
          <a:effectLst>
            <a:outerShdw blurRad="430560" sx="126000" rotWithShape="0" algn="ctr" sy="126000">
              <a:schemeClr val="lt1"/>
            </a:outerShdw>
          </a:effectLst>
        </p:spPr>
      </p:pic>
      <p:sp>
        <p:nvSpPr>
          <p:cNvPr id="12" name="Google Shape;12;g3bfc9e81fc1_0_3066"/>
          <p:cNvSpPr txBox="1"/>
          <p:nvPr>
            <p:ph type="title"/>
          </p:nvPr>
        </p:nvSpPr>
        <p:spPr>
          <a:xfrm>
            <a:off x="838080" y="851040"/>
            <a:ext cx="10515000" cy="657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bfc9e81fc1_0_3066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bfc9e81fc1_0_3123"/>
          <p:cNvPicPr preferRelativeResize="0"/>
          <p:nvPr/>
        </p:nvPicPr>
        <p:blipFill rotWithShape="1">
          <a:blip r:embed="rId1">
            <a:alphaModFix/>
          </a:blip>
          <a:srcRect b="0" l="3614" r="0" t="0"/>
          <a:stretch/>
        </p:blipFill>
        <p:spPr>
          <a:xfrm>
            <a:off x="0" y="2669685"/>
            <a:ext cx="4037011" cy="4188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bfc9e81fc1_0_3123"/>
          <p:cNvPicPr preferRelativeResize="0"/>
          <p:nvPr/>
        </p:nvPicPr>
        <p:blipFill rotWithShape="1">
          <a:blip r:embed="rId2">
            <a:alphaModFix/>
          </a:blip>
          <a:srcRect b="0" l="35642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bfc9e81fc1_0_3123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1961"/>
                </a:srgbClr>
              </a:gs>
              <a:gs pos="36000">
                <a:srgbClr val="4CB9C3">
                  <a:alpha val="1176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g3bfc9e81fc1_0_3123"/>
          <p:cNvPicPr preferRelativeResize="0"/>
          <p:nvPr/>
        </p:nvPicPr>
        <p:blipFill rotWithShape="1">
          <a:blip r:embed="rId3">
            <a:alphaModFix/>
          </a:blip>
          <a:srcRect b="0" l="0" r="0" t="28810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bfc9e81fc1_0_3123"/>
          <p:cNvPicPr preferRelativeResize="0"/>
          <p:nvPr/>
        </p:nvPicPr>
        <p:blipFill rotWithShape="1">
          <a:blip r:embed="rId4">
            <a:alphaModFix/>
          </a:blip>
          <a:srcRect b="23319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bfc9e81fc1_0_312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rgbClr val="0B5394"/>
          </a:solidFill>
          <a:ln>
            <a:noFill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bfc9e81fc1_0_3123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g3bfc9e81fc1_0_3123"/>
          <p:cNvSpPr txBox="1"/>
          <p:nvPr>
            <p:ph idx="1" type="body"/>
          </p:nvPr>
        </p:nvSpPr>
        <p:spPr>
          <a:xfrm>
            <a:off x="1103312" y="2052918"/>
            <a:ext cx="8946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2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1" name="Google Shape;71;g3bfc9e81fc1_0_3123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2" name="Google Shape;72;g3bfc9e81fc1_0_3123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" name="Google Shape;73;g3bfc9e81fc1_0_3123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fc9e81fc1_0_2912"/>
          <p:cNvSpPr txBox="1"/>
          <p:nvPr>
            <p:ph type="title"/>
          </p:nvPr>
        </p:nvSpPr>
        <p:spPr>
          <a:xfrm>
            <a:off x="319105" y="2573800"/>
            <a:ext cx="5289900" cy="7737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oppins"/>
              <a:buNone/>
            </a:pPr>
            <a:r>
              <a:rPr b="1" lang="de-DE" sz="2400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Erfolgsfaktor Emotionale Intelligenz</a:t>
            </a:r>
            <a:endParaRPr b="0" sz="2400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c9e81fc1_0_278"/>
          <p:cNvSpPr txBox="1"/>
          <p:nvPr>
            <p:ph type="title"/>
          </p:nvPr>
        </p:nvSpPr>
        <p:spPr>
          <a:xfrm>
            <a:off x="595550" y="2276100"/>
            <a:ext cx="4742100" cy="1071600"/>
          </a:xfrm>
          <a:prstGeom prst="rect">
            <a:avLst/>
          </a:prstGeom>
          <a:noFill/>
          <a:ln>
            <a:noFill/>
          </a:ln>
          <a:effectLst>
            <a:outerShdw blurRad="188280" rotWithShape="0" dir="2700000" dist="13237">
              <a:srgbClr val="000000">
                <a:alpha val="60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oppins"/>
              <a:buNone/>
            </a:pPr>
            <a:r>
              <a:t/>
            </a:r>
            <a:endParaRPr b="1" sz="4400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oppins"/>
              <a:buNone/>
            </a:pPr>
            <a:r>
              <a:rPr b="1" lang="de-DE" sz="2400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Noch offene Fragen?</a:t>
            </a:r>
            <a:endParaRPr b="0" sz="2400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Agenda – Online-Seminar (1 Tag)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1874519"/>
          <a:ext cx="10698480" cy="427939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603504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Uhrzeit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Inhalt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Methodik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09:00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Begrüßung, Ziele, Erwartungen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Plenum, Chat-Umfrage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09:30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1–2: Was ist Emotionale Intelligenz? Das Goleman-Modell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Diskussion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10:30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Pause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10:45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3: Selbstwahrnehmung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Selbstreflexion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11:30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4: Selbstregulation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Übung in Breakout-Räumen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12:30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Mittagspause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13:15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5: Motivation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Einzelarbeit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14:00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6: Empathie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Rollenspiel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14:45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Pause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15:00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7: Soziale Kompetenz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Fallarbeit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15:45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8: EI in Führung und Vertrieb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Praxisfälle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16:30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9: Transfer, Feedback, Abschluss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Transferplan, Blitzlicht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Seminarziele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Nach diesem Seminar können Sie …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37744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Verstehen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Modelle und Kernkompetenzen der Emotionalen Intelligenz erklären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43400" y="237744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Erkennen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eigene Emotionen, Auslöser und Muster bewusst wahrnehmen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955280" y="237744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Steuern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Emotionen in Drucksituationen gezielt regulieren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16052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Verbinden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Emotionen anderer erkennen und empathisch reagieren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343400" y="416052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Wirken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Gespräche, Feedback und Konflikte emotional intelligent führen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416052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Umsetzen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einen persönlichen Transferplan für den Alltag erstellen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Vorstellungsrunde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Ankommen, Kennenlernen und die eigenen Erwartungen sichtbar machen.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Name, Funktion und Unternehmen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Eine Situation, in der Emotionen im Job eine große Rolle gespielt haben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Meine Erwartung an den heutigen Tag (bitte zusätzlich in den Chat)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Auf einer Skala von 1–10: Wie gut kenne ich meine emotionalen Auslöser?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ca. 2 Min. pro Person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Plenum, Kamera an, Chat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1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1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Was ist Emotionale Intelligenz?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wird Emotionale Intelligenz definiert?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Worin unterscheiden sich IQ und EQ?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Welche Modelle gibt es – und wie belastbar ist die Forschung?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Definition: Emotionale Intelligenz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„Die Fähigkeit, die eigenen Gefühle und die anderer zu beobachten, zwischen ihnen zu unterscheiden und diese Informationen zu nutzen, um das eigene Denken und Handeln zu steuern.“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– Peter Salovey &amp; John D. Mayer (1990)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Kurz gesagt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Emotionen </a:t>
            </a: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wahrnehmen</a:t>
            </a: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bei sich selbst und bei anderen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Emotionen </a:t>
            </a: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verstehen</a:t>
            </a: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Ursachen, Verläufe und Wirkungen erkennen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Emotionen </a:t>
            </a: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nutzen und steuern</a:t>
            </a: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für gute Entscheidungen und Beziehungen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Popularisiert wurde der Begriff 1995 durch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Daniel Goleman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mit dem Bestseller „Emotional Intelligence“ (dt. „EQ. Emotionale Intelligenz“).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Salovey &amp; Mayer (1990); Goleman (1995)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Die Geschichte des Konzepts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Thorndike (1920); Gardner (1983); Salovey &amp; Mayer (1990); Goleman (1995); Bar-On (1997)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731520" y="2761488"/>
            <a:ext cx="10789920" cy="146304"/>
          </a:xfrm>
          <a:prstGeom prst="rect">
            <a:avLst/>
          </a:prstGeom>
          <a:solidFill>
            <a:srgbClr val="B7C9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234440" y="2377440"/>
            <a:ext cx="914400" cy="9144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1920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520440"/>
            <a:ext cx="2011680" cy="21945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400" b="1">
                <a:solidFill>
                  <a:srgbClr val="0B5394"/>
                </a:solidFill>
                <a:latin typeface="Arial"/>
              </a:rPr>
              <a:t>Edward Thorndike</a:t>
            </a:r>
          </a:p>
          <a:p>
            <a:pPr algn="l"/>
            <a:r>
              <a:rPr sz="1200" b="0">
                <a:solidFill>
                  <a:srgbClr val="1F2A36"/>
                </a:solidFill>
                <a:latin typeface="Arial"/>
              </a:rPr>
              <a:t>„Soziale Intelligenz“: die Fähigkeit, Menschen zu verstehen und klug mit ihnen umzugehen</a:t>
            </a:r>
          </a:p>
        </p:txBody>
      </p:sp>
      <p:sp>
        <p:nvSpPr>
          <p:cNvPr id="219" name="Oval 218"/>
          <p:cNvSpPr/>
          <p:nvPr/>
        </p:nvSpPr>
        <p:spPr>
          <a:xfrm>
            <a:off x="3429000" y="2377440"/>
            <a:ext cx="914400" cy="9144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1983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2926080" y="3520440"/>
            <a:ext cx="2011680" cy="21945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400" b="1">
                <a:solidFill>
                  <a:srgbClr val="0B5394"/>
                </a:solidFill>
                <a:latin typeface="Arial"/>
              </a:rPr>
              <a:t>Howard Gardner</a:t>
            </a:r>
          </a:p>
          <a:p>
            <a:pPr algn="l"/>
            <a:r>
              <a:rPr sz="1200" b="0">
                <a:solidFill>
                  <a:srgbClr val="1F2A36"/>
                </a:solidFill>
                <a:latin typeface="Arial"/>
              </a:rPr>
              <a:t>Multiple Intelligenzen – u. a. inter- und intrapersonale Intelligenz</a:t>
            </a:r>
          </a:p>
        </p:txBody>
      </p:sp>
      <p:sp>
        <p:nvSpPr>
          <p:cNvPr id="221" name="Oval 220"/>
          <p:cNvSpPr/>
          <p:nvPr/>
        </p:nvSpPr>
        <p:spPr>
          <a:xfrm>
            <a:off x="5623559" y="2377440"/>
            <a:ext cx="914400" cy="9144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1990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5120640" y="3520440"/>
            <a:ext cx="2011680" cy="21945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400" b="1">
                <a:solidFill>
                  <a:srgbClr val="0B5394"/>
                </a:solidFill>
                <a:latin typeface="Arial"/>
              </a:rPr>
              <a:t>Salovey &amp; Mayer</a:t>
            </a:r>
          </a:p>
          <a:p>
            <a:pPr algn="l"/>
            <a:r>
              <a:rPr sz="1200" b="0">
                <a:solidFill>
                  <a:srgbClr val="1F2A36"/>
                </a:solidFill>
                <a:latin typeface="Arial"/>
              </a:rPr>
              <a:t>Erste wissenschaftliche Definition von Emotionaler Intelligenz</a:t>
            </a:r>
          </a:p>
        </p:txBody>
      </p:sp>
      <p:sp>
        <p:nvSpPr>
          <p:cNvPr id="223" name="Oval 222"/>
          <p:cNvSpPr/>
          <p:nvPr/>
        </p:nvSpPr>
        <p:spPr>
          <a:xfrm>
            <a:off x="7818119" y="2377440"/>
            <a:ext cx="914400" cy="9144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1995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315199" y="3520440"/>
            <a:ext cx="2011680" cy="21945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400" b="1">
                <a:solidFill>
                  <a:srgbClr val="0B5394"/>
                </a:solidFill>
                <a:latin typeface="Arial"/>
              </a:rPr>
              <a:t>Daniel Goleman</a:t>
            </a:r>
          </a:p>
          <a:p>
            <a:pPr algn="l"/>
            <a:r>
              <a:rPr sz="1200" b="0">
                <a:solidFill>
                  <a:srgbClr val="1F2A36"/>
                </a:solidFill>
                <a:latin typeface="Arial"/>
              </a:rPr>
              <a:t>Bestseller macht EI weltweit bekannt – Fokus auf Beruf und Führung</a:t>
            </a:r>
          </a:p>
        </p:txBody>
      </p:sp>
      <p:sp>
        <p:nvSpPr>
          <p:cNvPr id="225" name="Oval 224"/>
          <p:cNvSpPr/>
          <p:nvPr/>
        </p:nvSpPr>
        <p:spPr>
          <a:xfrm>
            <a:off x="10012680" y="2377440"/>
            <a:ext cx="914400" cy="9144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1997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9509760" y="3520440"/>
            <a:ext cx="2011680" cy="21945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400" b="1">
                <a:solidFill>
                  <a:srgbClr val="0B5394"/>
                </a:solidFill>
                <a:latin typeface="Arial"/>
              </a:rPr>
              <a:t>Reuven Bar-On</a:t>
            </a:r>
          </a:p>
          <a:p>
            <a:pPr algn="l"/>
            <a:r>
              <a:rPr sz="1200" b="0">
                <a:solidFill>
                  <a:srgbClr val="1F2A36"/>
                </a:solidFill>
                <a:latin typeface="Arial"/>
              </a:rPr>
              <a:t>EQ-i: erster standardisierter Selbstauskunfts-Fragebogen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IQ und EQ im Vergleich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(1995); Mayer, Salovey &amp; Caruso (2004)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1920240"/>
          <a:ext cx="10698480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4023360"/>
                <a:gridCol w="42976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Merkmal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Intelligenzquotient (IQ)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Emotionale Intelligenz (EQ / EI)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Beschreibt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Kognitive Fähigkeiten: Logik, Sprache, Abstraktion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Umgang mit eigenen und fremden Emotionen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Veränderbarkeit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Im Erwachsenenalter relativ stabil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Durch Übung und Reflexion gut entwickelbar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Messung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Standardisierte Leistungstests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Leistungstests (z. B. MSCEIT) oder Selbst-/Fremdeinschätzung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Wirkt vor allem auf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Fachliche Problemlösung, Lernen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Zusammenarbeit, Führung, Stressbewältigung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Typische Frage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„Kann ich das Problem lösen?“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„Wie gehe ich mit mir und den Beteiligten um?“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Rounded Rectangle 216"/>
          <p:cNvSpPr/>
          <p:nvPr/>
        </p:nvSpPr>
        <p:spPr>
          <a:xfrm>
            <a:off x="731520" y="548640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82296" rIns="82296"/>
          <a:lstStyle/>
          <a:p>
            <a:pPr algn="ctr"/>
            <a:r>
              <a:rPr sz="1400" b="1">
                <a:solidFill>
                  <a:srgbClr val="0B5394"/>
                </a:solidFill>
                <a:latin typeface="Arial"/>
              </a:rPr>
              <a:t>IQ und EQ sind kein Gegensatz: Fachkompetenz öffnet Türen – Emotionale Intelligenz entscheidet oft, wie weit man kommt.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Drei Modelle der Emotionalen Intelligenz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Mayer &amp; Salovey (1997); Goleman (1995, 1998); Petrides &amp; Furnham (2001)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Fähigkeitsmodell</a:t>
            </a:r>
          </a:p>
          <a:p>
            <a:pPr algn="ctr"/>
            <a:r>
              <a:rPr sz="1300" b="0">
                <a:solidFill>
                  <a:srgbClr val="E6EEF7"/>
                </a:solidFill>
                <a:latin typeface="Arial"/>
              </a:rPr>
              <a:t>Mayer &amp; Salovey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2971800"/>
            <a:ext cx="3383280" cy="27432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EI als </a:t>
            </a:r>
            <a:r>
              <a:rPr sz="1400" b="1">
                <a:solidFill>
                  <a:srgbClr val="1F2A36"/>
                </a:solidFill>
                <a:latin typeface="Arial"/>
              </a:rPr>
              <a:t>kognitive Fähigkeit</a:t>
            </a:r>
            <a:r>
              <a:rPr sz="1400" b="0">
                <a:solidFill>
                  <a:srgbClr val="1F2A36"/>
                </a:solidFill>
                <a:latin typeface="Arial"/>
              </a:rPr>
              <a:t>, Emotionen zu verarbeiten.</a:t>
            </a:r>
          </a:p>
          <a:p>
            <a:pPr algn="l"/>
          </a:p>
          <a:p>
            <a:pPr algn="l"/>
            <a:r>
              <a:rPr sz="1300" b="0">
                <a:solidFill>
                  <a:srgbClr val="4A5561"/>
                </a:solidFill>
                <a:latin typeface="Arial"/>
              </a:rPr>
              <a:t>Messung per Leistungstest (MSCEIT) – es gibt richtige und falsche Antworten.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34340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Mischmodell</a:t>
            </a:r>
          </a:p>
          <a:p>
            <a:pPr algn="ctr"/>
            <a:r>
              <a:rPr sz="1300" b="0">
                <a:solidFill>
                  <a:srgbClr val="E6EEF7"/>
                </a:solidFill>
                <a:latin typeface="Arial"/>
              </a:rPr>
              <a:t>Goleman / Bar-On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343400" y="2971800"/>
            <a:ext cx="3383280" cy="27432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EI als Bündel aus </a:t>
            </a:r>
            <a:r>
              <a:rPr sz="1400" b="1">
                <a:solidFill>
                  <a:srgbClr val="1F2A36"/>
                </a:solidFill>
                <a:latin typeface="Arial"/>
              </a:rPr>
              <a:t>Kompetenzen, Eigenschaften und Motivation</a:t>
            </a:r>
            <a:r>
              <a:rPr sz="1400" b="0">
                <a:solidFill>
                  <a:srgbClr val="1F2A36"/>
                </a:solidFill>
                <a:latin typeface="Arial"/>
              </a:rPr>
              <a:t>.</a:t>
            </a:r>
          </a:p>
          <a:p>
            <a:pPr algn="l"/>
          </a:p>
          <a:p>
            <a:pPr algn="l"/>
            <a:r>
              <a:rPr sz="1300" b="0">
                <a:solidFill>
                  <a:srgbClr val="4A5561"/>
                </a:solidFill>
                <a:latin typeface="Arial"/>
              </a:rPr>
              <a:t>Messung per Selbst- und 360°-Einschätzung (z. B. ESCI, EQ-i). Stark praxis- und führungsorientiert.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95528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Trait-Modell</a:t>
            </a:r>
          </a:p>
          <a:p>
            <a:pPr algn="ctr"/>
            <a:r>
              <a:rPr sz="1300" b="0">
                <a:solidFill>
                  <a:srgbClr val="E6EEF7"/>
                </a:solidFill>
                <a:latin typeface="Arial"/>
              </a:rPr>
              <a:t>Petrides &amp; Furnham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2971800"/>
            <a:ext cx="3383280" cy="27432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EI als </a:t>
            </a:r>
            <a:r>
              <a:rPr sz="1400" b="1">
                <a:solidFill>
                  <a:srgbClr val="1F2A36"/>
                </a:solidFill>
                <a:latin typeface="Arial"/>
              </a:rPr>
              <a:t>Persönlichkeitsmerkmal</a:t>
            </a:r>
            <a:r>
              <a:rPr sz="1400" b="0">
                <a:solidFill>
                  <a:srgbClr val="1F2A36"/>
                </a:solidFill>
                <a:latin typeface="Arial"/>
              </a:rPr>
              <a:t>: emotionale Selbstwirksamkeit.</a:t>
            </a:r>
          </a:p>
          <a:p>
            <a:pPr algn="l"/>
          </a:p>
          <a:p>
            <a:pPr algn="l"/>
            <a:r>
              <a:rPr sz="1300" b="0">
                <a:solidFill>
                  <a:srgbClr val="4A5561"/>
                </a:solidFill>
                <a:latin typeface="Arial"/>
              </a:rPr>
              <a:t>Messung per Selbstauskunft (TEIQue). Eng mit Big-Five-Persönlichkeit verbunden.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Vier-Zweige-Modell nach Mayer &amp; Salovey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vier Fähigkeiten bauen aufeinander auf – von der einfachen Wahrnehmung bis zur bewussten Steuerung.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Mayer &amp; Salovey (1997): What is emotional intelligence?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457200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1  Wahrnehmen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Emotionen in Mimik, Stimme, Körper und bei sich selbst erkennen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3474720" y="388620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2  Nutzen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Emotionen gezielt einsetzen, um Denken und Kreativität zu fördern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6217920" y="3200400"/>
            <a:ext cx="2560320" cy="251460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3  Verstehen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Ursachen, Mischungen und Verläufe von Emotionen begreifen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8961120" y="2514600"/>
            <a:ext cx="2560320" cy="320040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4  Regulieren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Emotionen bei sich und anderen konstruktiv beeinflussen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Warum Emotionale Intelligenz im Beruf zählt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(1998), HBR „What Makes a Leader?“; O'Boyle et al. (2011), J. Organiz. Behavior; Seligman &amp; Schulman (1986)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011680"/>
            <a:ext cx="3383280" cy="31089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ctr"/>
            <a:r>
              <a:rPr sz="4400" b="1">
                <a:solidFill>
                  <a:srgbClr val="0B5394"/>
                </a:solidFill>
                <a:latin typeface="Arial"/>
              </a:rPr>
              <a:t>2×</a:t>
            </a:r>
          </a:p>
          <a:p>
            <a:pPr algn="ctr"/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so wichtig wie IQ und Fachwissen zusammen – so Golemans Analyse von Kompetenzmodellen für Führungsrollen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43400" y="2011680"/>
            <a:ext cx="3383280" cy="31089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ctr"/>
            <a:r>
              <a:rPr sz="4400" b="1">
                <a:solidFill>
                  <a:srgbClr val="45818E"/>
                </a:solidFill>
                <a:latin typeface="Arial"/>
              </a:rPr>
              <a:t>ρ ≈ .30</a:t>
            </a:r>
          </a:p>
          <a:p>
            <a:pPr algn="ctr"/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Zusammenhang von EI und Arbeitsleistung in einer Metaanalyse – auch über IQ und Persönlichkeit hinaus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955280" y="2011680"/>
            <a:ext cx="3383280" cy="31089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ctr"/>
            <a:r>
              <a:rPr sz="4400" b="1">
                <a:solidFill>
                  <a:srgbClr val="0B5394"/>
                </a:solidFill>
                <a:latin typeface="Arial"/>
              </a:rPr>
              <a:t>+37 %</a:t>
            </a:r>
          </a:p>
          <a:p>
            <a:pPr algn="ctr"/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mehr Abschlüsse erzielten optimistische Versicherungsvertreter in den ersten zwei Jahren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5303520"/>
            <a:ext cx="10698480" cy="4572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4A5561"/>
                </a:solidFill>
                <a:latin typeface="Arial"/>
              </a:rPr>
              <a:t>Aber: Die Effektstärken schwanken je nach Modell und Messmethode – EI ist ein Erfolgsfaktor, keine Garantie.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Mythen und kritische Einordnung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Joseph &amp; Newman (2010); Antonakis et al. (2009);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1920240"/>
          <a:ext cx="10698480" cy="373075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40480"/>
                <a:gridCol w="685800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Mythos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Realität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„EI ist angeboren.“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Temperament ist teils angelegt – Wahrnehmung und Regulation lassen sich aber trainieren.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„Emotional intelligent = immer nett.“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EI heißt auch: klar Grenzen setzen, Konflikte ansprechen, unbequeme Wahrheiten sagen.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„Gefühle haben im Job nichts zu suchen.“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Emotionen beeinflussen jede Entscheidung – die Frage ist nur, ob bewusst oder unbewusst.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„Hohe EI schützt vor Fehlern.“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EI kann auch manipulativ eingesetzt werden – Werte und Integrität bleiben entscheidend.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„EI ist eindeutig messbar.“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Selbsteinschätzungen überlappen stark mit Persönlichkeit; Leistungstests sind aufwändig.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Basisemotionen und ihre Botschaft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Jede Emotion ist eine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Information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– sie zeigt ein Bedürfnis an und bereitet eine Handlung vor.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Ekman (1992);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2331720"/>
          <a:ext cx="10698480" cy="32186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3108960"/>
                <a:gridCol w="3017520"/>
                <a:gridCol w="25603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Emotion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Botschaft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Handlungsimpuls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Im Arbeitsalltag z. B.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Freude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„Das ist gut für mich.“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Annähern, teilen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Projekterfolg, Anerkennung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Ärger/Wut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„Eine Grenze wurde verletzt.“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Verteidigen, durchsetzen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Unfaire Kritik, Blockaden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Angst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„Gefahr droht.“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Schützen, vermeiden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Reorganisation, Präsentation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Trauer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habe etwas verloren.“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Innehalten, Unterstützung suchen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Abschied von Kollegen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Ekel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„Das ist unverträglich.“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Abwenden, ablehnen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Unethisches Verhalten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Überraschung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„Das ist neu.“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Aufmerksamkeit fokussieren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Unerwartete Zahlen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Verachtung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stehe darüber.“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Abwerten, distanzieren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Warnsignal für Beziehungen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Der „Amygdala-Hijack“: Wenn Emotionen übernehmen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LeDoux (1996); Goleman (1995)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31089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0B5394"/>
                </a:solidFill>
                <a:latin typeface="Arial"/>
              </a:rPr>
              <a:t>Reiz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z. B. scharfe E-Mail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3108960" y="31089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Thalamus</a:t>
            </a:r>
          </a:p>
          <a:p>
            <a:pPr algn="ctr"/>
            <a:r>
              <a:rPr sz="1200" b="0">
                <a:solidFill>
                  <a:srgbClr val="E6EEF7"/>
                </a:solidFill>
                <a:latin typeface="Arial"/>
              </a:rPr>
              <a:t>Schaltzentrale</a:t>
            </a:r>
          </a:p>
        </p:txBody>
      </p:sp>
      <p:sp>
        <p:nvSpPr>
          <p:cNvPr id="218" name="Right Arrow 217"/>
          <p:cNvSpPr/>
          <p:nvPr/>
        </p:nvSpPr>
        <p:spPr>
          <a:xfrm>
            <a:off x="2697480" y="3520440"/>
            <a:ext cx="365760" cy="365760"/>
          </a:xfrm>
          <a:prstGeom prst="rightArrow">
            <a:avLst/>
          </a:prstGeom>
          <a:solidFill>
            <a:srgbClr val="458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Right Arrow 218"/>
          <p:cNvSpPr/>
          <p:nvPr/>
        </p:nvSpPr>
        <p:spPr>
          <a:xfrm>
            <a:off x="5120640" y="2377440"/>
            <a:ext cx="1280160" cy="365760"/>
          </a:xfrm>
          <a:prstGeom prst="rightArrow">
            <a:avLst/>
          </a:prstGeom>
          <a:solidFill>
            <a:srgbClr val="458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Right Arrow 219"/>
          <p:cNvSpPr/>
          <p:nvPr/>
        </p:nvSpPr>
        <p:spPr>
          <a:xfrm>
            <a:off x="5120640" y="4663440"/>
            <a:ext cx="1280160" cy="365760"/>
          </a:xfrm>
          <a:prstGeom prst="rightArrow">
            <a:avLst/>
          </a:prstGeom>
          <a:solidFill>
            <a:srgbClr val="458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6492240" y="1920240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B3261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Schnellweg → Amygdala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ca. 12 Millisekunden · unbewusst · Kampf, Flucht, Erstarren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492240" y="4206240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Langsamweg → Präfrontaler Kortex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deutlich langsamer · bewusst · prüfen, abwägen, entscheiden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31520" y="4800600"/>
            <a:ext cx="429768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Ziel ist nicht, die Amygdala abzuschalten – sondern </a:t>
            </a:r>
            <a:r>
              <a:rPr sz="1400" b="1">
                <a:solidFill>
                  <a:srgbClr val="1F2A36"/>
                </a:solidFill>
                <a:latin typeface="Arial"/>
              </a:rPr>
              <a:t>Zeit</a:t>
            </a:r>
            <a:r>
              <a:rPr sz="1400" b="0">
                <a:solidFill>
                  <a:srgbClr val="1F2A36"/>
                </a:solidFill>
                <a:latin typeface="Arial"/>
              </a:rPr>
              <a:t> für den Langsamweg zu gewinnen.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Mein emotionaler Fingerabdruck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Welche Emotionen erlebe ich im Job am häufigsten – und was lösen sie aus?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Denken Sie an die letzten zwei Arbeitswochen.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Notieren Sie die drei häufigsten Emotionen und je eine typische Situation.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haben Sie jeweils reagiert – und mit welcher Wirkung?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Teilen Sie eine Erkenntnis im Chat.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10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Einzelarbeit, danach Chat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2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2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Das Goleman-Modell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Aus welchen Kompetenzen besteht EI?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Welche betreffen mich – welche andere?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Wo liegen meine Stärken und Entwicklungsfelder?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Die fünf Dimensionen nach Goleman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(1998): Working with Emotional Intelligence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2024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0B5394"/>
                </a:solidFill>
                <a:latin typeface="Arial"/>
              </a:rPr>
              <a:t>Persönliche Kompetenz – Umgang mit sich selbst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406640" y="19202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45818E"/>
                </a:solidFill>
                <a:latin typeface="Arial"/>
              </a:rPr>
              <a:t>Soziale Kompetenz – Umgang mit anderen</a:t>
            </a:r>
          </a:p>
        </p:txBody>
      </p:sp>
      <p:sp>
        <p:nvSpPr>
          <p:cNvPr id="218" name="Oval 217"/>
          <p:cNvSpPr/>
          <p:nvPr/>
        </p:nvSpPr>
        <p:spPr>
          <a:xfrm>
            <a:off x="1051560" y="2651760"/>
            <a:ext cx="1371600" cy="13716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20624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Selbst­wahrnehmung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Eigene Gefühle, Stärken und Grenzen kennen</a:t>
            </a:r>
          </a:p>
        </p:txBody>
      </p:sp>
      <p:sp>
        <p:nvSpPr>
          <p:cNvPr id="220" name="Oval 219"/>
          <p:cNvSpPr/>
          <p:nvPr/>
        </p:nvSpPr>
        <p:spPr>
          <a:xfrm>
            <a:off x="3200400" y="2651760"/>
            <a:ext cx="1371600" cy="13716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2880360" y="420624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Selbst­regulation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Impulse steuern, besonnen handeln</a:t>
            </a:r>
          </a:p>
        </p:txBody>
      </p:sp>
      <p:sp>
        <p:nvSpPr>
          <p:cNvPr id="222" name="Oval 221"/>
          <p:cNvSpPr/>
          <p:nvPr/>
        </p:nvSpPr>
        <p:spPr>
          <a:xfrm>
            <a:off x="5349240" y="2651760"/>
            <a:ext cx="1371600" cy="13716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5029200" y="420624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Motivation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Aus innerem Antrieb Ziele verfolgen</a:t>
            </a:r>
          </a:p>
        </p:txBody>
      </p:sp>
      <p:sp>
        <p:nvSpPr>
          <p:cNvPr id="224" name="Oval 223"/>
          <p:cNvSpPr/>
          <p:nvPr/>
        </p:nvSpPr>
        <p:spPr>
          <a:xfrm>
            <a:off x="7498080" y="2651760"/>
            <a:ext cx="1371600" cy="13716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7178040" y="420624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/>
          <a:lstStyle/>
          <a:p>
            <a:pPr algn="ctr"/>
            <a:r>
              <a:rPr sz="1500" b="1">
                <a:solidFill>
                  <a:srgbClr val="45818E"/>
                </a:solidFill>
                <a:latin typeface="Arial"/>
              </a:rPr>
              <a:t>Empathie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Gefühle und Perspektiven anderer verstehen</a:t>
            </a:r>
          </a:p>
        </p:txBody>
      </p:sp>
      <p:sp>
        <p:nvSpPr>
          <p:cNvPr id="226" name="Oval 225"/>
          <p:cNvSpPr/>
          <p:nvPr/>
        </p:nvSpPr>
        <p:spPr>
          <a:xfrm>
            <a:off x="9646920" y="2651760"/>
            <a:ext cx="1371600" cy="13716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9326880" y="4206240"/>
            <a:ext cx="2011680" cy="15544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/>
          <a:lstStyle/>
          <a:p>
            <a:pPr algn="ctr"/>
            <a:r>
              <a:rPr sz="1500" b="1">
                <a:solidFill>
                  <a:srgbClr val="45818E"/>
                </a:solidFill>
                <a:latin typeface="Arial"/>
              </a:rPr>
              <a:t>Soziale Kompetenz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Beziehungen gestalten, führen, überzeugen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Kompetenzmodell nach Goleman &amp; Boyatzis (ESCI)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&amp; Boyatzis (2017), HBR; Emotional and Social Competency Inventory (ESCI)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2103120" y="1874519"/>
            <a:ext cx="4572000" cy="36576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4A5561"/>
                </a:solidFill>
                <a:latin typeface="Arial"/>
              </a:rPr>
              <a:t>SELBST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858000" y="1874519"/>
            <a:ext cx="4572000" cy="36576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4A5561"/>
                </a:solidFill>
                <a:latin typeface="Arial"/>
              </a:rPr>
              <a:t>ANDERE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2286000"/>
            <a:ext cx="1280160" cy="16002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4A5561"/>
                </a:solidFill>
                <a:latin typeface="Arial"/>
              </a:rPr>
              <a:t>Wahr-
nehmen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3977639"/>
            <a:ext cx="1280160" cy="1783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4A5561"/>
                </a:solidFill>
                <a:latin typeface="Arial"/>
              </a:rPr>
              <a:t>Steuern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2103120" y="2286000"/>
            <a:ext cx="4572000" cy="160020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Selbstwahrnehmung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Emotionale Selbstwahrnehmung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858000" y="2286000"/>
            <a:ext cx="4572000" cy="160020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45818E"/>
                </a:solidFill>
                <a:latin typeface="Arial"/>
              </a:rPr>
              <a:t>Soziales Bewusstsein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Empathie · Organisationsbewusstsein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103120" y="3977639"/>
            <a:ext cx="4572000" cy="17830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Selbstmanagement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Emotionale Selbstkontrolle · Anpassungsfähigkeit · Leistungsorientierung · Positive Grundhaltung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858000" y="3977639"/>
            <a:ext cx="4572000" cy="17830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45818E"/>
                </a:solidFill>
                <a:latin typeface="Arial"/>
              </a:rPr>
              <a:t>Beziehungsmanagement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Einfluss · Coaching und Mentoring · Konfliktmanagement · Teamarbeit · Inspirierende Führung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3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3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Selbstwahrnehmung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fühle ich gerade – und woran merke ich das?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sind meine emotionalen Auslöser?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sehen mich andere?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Selbstwahrnehmung – die Basis aller EI-Kompetenzen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Selbstwahrnehmung ist die Fähigkeit, die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eigenen Emotionen, Stärken, Schwächen, Werte und Wirkungen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zu erkennen – im Moment und im Rückblick.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Woran man hohe Selbstwahrnehmung erkennt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Realistische Selbsteinschätzung: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kennt Stärken und Grenzen, spricht offen darüber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Selbstbewusstsein: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sicheres Auftreten ohne Arroganz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Offenheit für Feedback: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sucht aktiv nach Rückmeldung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Humor über sich selbst: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kann eigene Fehler mit Gelassenheit betrachten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Warum das wichtig ist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Nach Studien von Tasha Eurich halten sich rund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95 %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der Menschen für selbstreflektiert – tatsächlich trifft das nur auf etwa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10–15 %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zu.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(1998); Eurich (2018): Insight / HBR „What Self-Awareness Really Is“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Emotionale Granularität: Gefühle genau benennen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präziser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wir Gefühle benennen können, desto besser können wir sie regulieren (Lisa Feldman Barrett). Aus „mir geht's schlecht“ wird z. B. „ich bin enttäuscht“ oder „ich bin überfordert“.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Barrett (2017): How Emotions Are Made; Kashdan, Barrett &amp; McKnight (2015)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926080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Ärger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3566160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gereizt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995928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frustriert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425696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verärgert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31520" y="485546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empört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31520" y="5285231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wütend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429000" y="2926080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Angst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3429000" y="3566160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unsicher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3429000" y="3995928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besorgt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3429000" y="4425696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nervös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3429000" y="485546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beunruhigt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3429000" y="5285231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panisch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6126480" y="2926080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Trauer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6126480" y="3566160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enttäuscht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126480" y="3995928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niedergeschlagen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126480" y="4425696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einsam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6126480" y="485546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entmutigt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126480" y="5285231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verletzt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8823960" y="2926080"/>
            <a:ext cx="2514600" cy="54864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Freude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8823960" y="3566160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zufrieden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8823960" y="3995928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erleichtert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8823960" y="4425696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dankbar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8823960" y="485546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stolz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8823960" y="5285231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begeistert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Körpersignale als Frühwarnsystem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Emotionen zeigen sich im Körper,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bevor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sie uns bewusst werden. Wer diese Signale kennt, gewinnt Zeit zum Reagieren.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Damasio (1994): Descartes' Irrtum; Nummenmaa et al. (2014), PNAS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606040"/>
            <a:ext cx="2377440" cy="530352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Kopf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3246120" y="2606040"/>
            <a:ext cx="3931920" cy="53035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Druck, Hitze, Gedankenrasen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246120"/>
            <a:ext cx="2377440" cy="530352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Kiefer &amp; Nacken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3246120" y="3246120"/>
            <a:ext cx="3931920" cy="53035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Anspannung, Zähne zusammenbeißen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31520" y="3886200"/>
            <a:ext cx="2377440" cy="530352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Brust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3246120" y="3886200"/>
            <a:ext cx="3931920" cy="53035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Enge, flache Atmung, Herzklopfen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731520" y="4526279"/>
            <a:ext cx="2377440" cy="530352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Bauch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3246120" y="4526279"/>
            <a:ext cx="3931920" cy="53035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Flaues Gefühl, „Kloß im Magen“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31520" y="5166360"/>
            <a:ext cx="2377440" cy="530352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Hände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3246120" y="5166360"/>
            <a:ext cx="3931920" cy="53035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Schwitzen, Fäuste ballen, Zittern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7589520" y="2606040"/>
            <a:ext cx="3840480" cy="310896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Mini-Body-Scan (60 Sek.)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1. Kurz innehalten, Augen schließen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2. Aufmerksamkeit vom Kopf bis zu den Füßen wandern lassen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3. Wo spüre ich Spannung, Wärme, Enge?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4. Welches Gefühl könnte dahinterstehen?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Johari-Fenster: Selbstbild und Fremdbild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Luft &amp; Ingham (1955)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1188720" y="2148840"/>
            <a:ext cx="3154680" cy="169164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Öffentliche Person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bekannt – anderen bekannt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434840" y="2148840"/>
            <a:ext cx="3154680" cy="169164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Blinder Fleck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unbekannt – anderen bekannt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188720" y="3931920"/>
            <a:ext cx="3154680" cy="169164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Privatperson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bekannt – anderen unbekannt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434840" y="3931920"/>
            <a:ext cx="3154680" cy="1691640"/>
          </a:xfrm>
          <a:prstGeom prst="rect">
            <a:avLst/>
          </a:prstGeom>
          <a:solidFill>
            <a:srgbClr val="6B7B8C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Unbekanntes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unbekannt – anderen unbekannt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188720" y="1783080"/>
            <a:ext cx="640080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4A5561"/>
                </a:solidFill>
                <a:latin typeface="Arial"/>
              </a:rPr>
              <a:t>bekannt        ←  Selbst  →        unbekannt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183879" y="2148840"/>
            <a:ext cx="3246120" cy="342900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So wächst die „Arena“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Feedback einholen → blinder Fleck wird kleiner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Sich öffnen → Privatbereich wird kleiner</a:t>
            </a:r>
          </a:p>
          <a:p>
            <a:pPr algn="l"/>
          </a:p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Größere Arena = mehr Vertrauen und weniger Missverständnisse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Auslöser erkennen: Das ABC-Modell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Nicht die Situation selbst, sondern unsere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Bewertung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bestimmt, was wir fühlen (Albert Ellis).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Ellis (1962): Reason and Emotion in Psychotherapy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5146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A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Auslöser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Kollege unterbricht mich im Meeting</a:t>
            </a:r>
          </a:p>
        </p:txBody>
      </p:sp>
      <p:sp>
        <p:nvSpPr>
          <p:cNvPr id="217" name="Right Arrow 216"/>
          <p:cNvSpPr/>
          <p:nvPr/>
        </p:nvSpPr>
        <p:spPr>
          <a:xfrm>
            <a:off x="4005072" y="3337560"/>
            <a:ext cx="365760" cy="365760"/>
          </a:xfrm>
          <a:prstGeom prst="rightArrow">
            <a:avLst/>
          </a:prstGeom>
          <a:solidFill>
            <a:srgbClr val="458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4434840" y="25146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Bewertung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„Er nimmt mich nicht ernst.“</a:t>
            </a:r>
          </a:p>
        </p:txBody>
      </p:sp>
      <p:sp>
        <p:nvSpPr>
          <p:cNvPr id="219" name="Right Arrow 218"/>
          <p:cNvSpPr/>
          <p:nvPr/>
        </p:nvSpPr>
        <p:spPr>
          <a:xfrm>
            <a:off x="7708392" y="3337560"/>
            <a:ext cx="365760" cy="365760"/>
          </a:xfrm>
          <a:prstGeom prst="rightArrow">
            <a:avLst/>
          </a:prstGeom>
          <a:solidFill>
            <a:srgbClr val="458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8138160" y="25146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Consequence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Ärger, Rückzug, spitze Bemerkung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31520" y="4754880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Alternative Bewertung: „Er ist unter Zeitdruck und will schnell zum Punkt.“ → Gelassenheit, sachliche Bitte: „Lass mich kurz ausreden, dann bist du dran.“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Feedback zum blinden Fleck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Das eigene Selbstbild mit dem Fremdbild abgleichen.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Wählen Sie drei Eigenschaften, die Sie im Umgang mit Emotionen beschreiben.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Tauschen Sie sich im Breakout-Raum (3 Personen) über eine typische Arbeitssituation aus.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Die anderen geben Rückmeldung: „Auf mich wirkst du …“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Notieren Sie: Was bestätigt sich – was überrascht mich?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20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Breakout-Räume à 3 Personen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4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4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Selbstregulation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behalte ich unter Druck einen klaren Kopf?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Welche Strategien helfen – welche schaden?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kann ich in akuten Situationen sofort tun?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Selbstregulation heißt nicht Unterdrücken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Selbstregulation ist die Fähigkeit,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Impulse und Stimmungen zu steuern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und erst zu denken, dann zu handeln.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Merkmale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Selbstkontrolle: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bleibt auch in Konflikten sachlich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Anpassungsfähigkeit: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geht flexibel mit Veränderung und Unsicherheit um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Vertrauenswürdigkeit: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handelt berechenbar und im Einklang mit eigenen Werten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Verantwortung: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steht zu Fehlern, statt Schuld abzuschieben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Wichtig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Gefühle zu unterdrücken kostet Energie, belastet Beziehungen und macht Gefühle oft stärker. Ziel ist ein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bewusster Umgang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– nicht emotionslose Kontrolle.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(1998); Gross &amp; John (2003)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Prozessmodell der Emotionsregulation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James Gross unterscheidet fünf Ansatzpunkte – je früher, desto weniger Kraft kostet die Regulation.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Gross (1998, 2015): The Emerging Field of Emotion Regulation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Pentagon 215"/>
          <p:cNvSpPr/>
          <p:nvPr/>
        </p:nvSpPr>
        <p:spPr>
          <a:xfrm>
            <a:off x="731520" y="2560320"/>
            <a:ext cx="2103120" cy="109728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841248" y="2560320"/>
            <a:ext cx="1554479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Situation auswählen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84048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Kritische Situationen bewusst meiden oder aufsuchen</a:t>
            </a:r>
          </a:p>
        </p:txBody>
      </p:sp>
      <p:sp>
        <p:nvSpPr>
          <p:cNvPr id="219" name="Chevron 218"/>
          <p:cNvSpPr/>
          <p:nvPr/>
        </p:nvSpPr>
        <p:spPr>
          <a:xfrm>
            <a:off x="2898648" y="2560320"/>
            <a:ext cx="2103120" cy="10972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3392424" y="2560320"/>
            <a:ext cx="1170431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Situation verändern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2898648" y="384048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Rahmen gestalten: Agenda, Ort, Zeitpunkt</a:t>
            </a:r>
          </a:p>
        </p:txBody>
      </p:sp>
      <p:sp>
        <p:nvSpPr>
          <p:cNvPr id="222" name="Chevron 221"/>
          <p:cNvSpPr/>
          <p:nvPr/>
        </p:nvSpPr>
        <p:spPr>
          <a:xfrm>
            <a:off x="5065776" y="2560320"/>
            <a:ext cx="2103120" cy="10972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5559552" y="2560320"/>
            <a:ext cx="1170431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Fokus lenken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5065776" y="384048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Aufmerksamkeit auf Lösungen statt auf Ärgernisse richten</a:t>
            </a:r>
          </a:p>
        </p:txBody>
      </p:sp>
      <p:sp>
        <p:nvSpPr>
          <p:cNvPr id="225" name="Chevron 224"/>
          <p:cNvSpPr/>
          <p:nvPr/>
        </p:nvSpPr>
        <p:spPr>
          <a:xfrm>
            <a:off x="7232904" y="2560320"/>
            <a:ext cx="2103120" cy="10972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7726679" y="2560320"/>
            <a:ext cx="1170431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Neu bewerten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7232904" y="384048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Situation anders interpretieren (Reframing)</a:t>
            </a:r>
          </a:p>
        </p:txBody>
      </p:sp>
      <p:sp>
        <p:nvSpPr>
          <p:cNvPr id="228" name="Chevron 227"/>
          <p:cNvSpPr/>
          <p:nvPr/>
        </p:nvSpPr>
        <p:spPr>
          <a:xfrm>
            <a:off x="9400032" y="2560320"/>
            <a:ext cx="2103120" cy="1097280"/>
          </a:xfrm>
          <a:prstGeom prst="chevron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9893808" y="2560320"/>
            <a:ext cx="1170431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Reaktion steuern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9400032" y="3840480"/>
            <a:ext cx="1920240" cy="182880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Atmen, Pause, Ausdruck bewusst dosieren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731520" y="5760720"/>
            <a:ext cx="8412480" cy="3200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200" b="1">
                <a:solidFill>
                  <a:srgbClr val="4A5561"/>
                </a:solidFill>
                <a:latin typeface="Arial"/>
              </a:rPr>
              <a:t>früh (vor der Emotion)  ─────────────────────────►  spät (während der Emotion)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Neubewerten schlägt Unterdrücken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Gross &amp; John (2003), J. Personality &amp; Social Psychology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5212080" cy="73152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Kognitive Neubewertung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217920" y="1965960"/>
            <a:ext cx="5212080" cy="731520"/>
          </a:xfrm>
          <a:prstGeom prst="roundRect">
            <a:avLst>
              <a:gd name="adj" fmla="val 12000"/>
            </a:avLst>
          </a:prstGeom>
          <a:solidFill>
            <a:srgbClr val="8A95A1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Unterdrückung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2788920"/>
            <a:ext cx="5212080" cy="29260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500" b="1">
                <a:solidFill>
                  <a:srgbClr val="45818E"/>
                </a:solidFill>
                <a:latin typeface="Arial"/>
              </a:rPr>
              <a:t>„Was könnte es noch bedeuten?“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+ mehr positive Emotionen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+ bessere Beziehungen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+ höheres Wohlbefinden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+ Gedächtnis und Denken bleiben frei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217920" y="2788920"/>
            <a:ext cx="5212080" cy="2926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500" b="1">
                <a:solidFill>
                  <a:srgbClr val="4A5561"/>
                </a:solidFill>
                <a:latin typeface="Arial"/>
              </a:rPr>
              <a:t>„Nur nichts anmerken lassen!“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– innere Erregung bleibt bestehen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– wirkt auf andere unecht, distanziert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– geringeres Wohlbefinden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– kostet kognitive Ressourcen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„Name it to tame it“ – Gefühle benennen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Schon das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Benennen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eines Gefühls („Ich bin gerade verärgert“) dämpft nachweislich die Aktivität der Amygdala und stärkt den präfrontalen Kortex (Affect Labeling).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 geht's in der Praxis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AutoNum type="arabicPeriod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Innehalten und wahrnehmen: „Was passiert gerade in mir?“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AutoNum type="arabicPeriod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Gefühl möglichst präzise benennen – still oder laut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AutoNum type="arabicPeriod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Intensität einschätzen: 1 (leicht) bis 10 (sehr stark)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AutoNum type="arabicPeriod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Bedürfnis dahinter erkennen: „Was brauche ich jetzt?“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Beispiel im Meeting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„Ich merke, dass mich das gerade ärgert. Ich brauche einen Moment, bevor ich antworte.“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Lieberman et al. (2007), Psychological Science; Siegel (2010): Mindsight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Soforthilfe in emotional aufgeladenen Situationen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Bolte Taylor (2008); Zaccaro et al. (2018), Frontiers in Human Neuroscience;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STOP</a:t>
            </a:r>
          </a:p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S</a:t>
            </a:r>
            <a:r>
              <a:rPr sz="1300" b="0">
                <a:solidFill>
                  <a:srgbClr val="1F2A36"/>
                </a:solidFill>
                <a:latin typeface="Arial"/>
              </a:rPr>
              <a:t>topp – </a:t>
            </a:r>
            <a:r>
              <a:rPr sz="1300" b="1">
                <a:solidFill>
                  <a:srgbClr val="1F2A36"/>
                </a:solidFill>
                <a:latin typeface="Arial"/>
              </a:rPr>
              <a:t>T</a:t>
            </a:r>
            <a:r>
              <a:rPr sz="1300" b="0">
                <a:solidFill>
                  <a:srgbClr val="1F2A36"/>
                </a:solidFill>
                <a:latin typeface="Arial"/>
              </a:rPr>
              <a:t>ief durchatmen – </a:t>
            </a:r>
            <a:r>
              <a:rPr sz="1300" b="1">
                <a:solidFill>
                  <a:srgbClr val="1F2A36"/>
                </a:solidFill>
                <a:latin typeface="Arial"/>
              </a:rPr>
              <a:t>O</a:t>
            </a:r>
            <a:r>
              <a:rPr sz="1300" b="0">
                <a:solidFill>
                  <a:srgbClr val="1F2A36"/>
                </a:solidFill>
                <a:latin typeface="Arial"/>
              </a:rPr>
              <a:t>bservieren, was los ist – </a:t>
            </a:r>
            <a:r>
              <a:rPr sz="1300" b="1">
                <a:solidFill>
                  <a:srgbClr val="1F2A36"/>
                </a:solidFill>
                <a:latin typeface="Arial"/>
              </a:rPr>
              <a:t>P</a:t>
            </a:r>
            <a:r>
              <a:rPr sz="1300" b="0">
                <a:solidFill>
                  <a:srgbClr val="1F2A36"/>
                </a:solidFill>
                <a:latin typeface="Arial"/>
              </a:rPr>
              <a:t>ositiv und bewusst weitermachen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43400" y="196596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700" b="1">
                <a:solidFill>
                  <a:srgbClr val="45818E"/>
                </a:solidFill>
                <a:latin typeface="Arial"/>
              </a:rPr>
              <a:t>Box-Atmung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4 Sek. einatmen – 4 halten – 4 ausatmen – 4 halten. 3–4 Runden beruhigen das Nervensystem.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955280" y="196596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90-Sekunden-Regel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Die chemische Welle einer Emotion ebbt nach ca. 90 Sekunden ab – wenn wir sie nicht mit Gedanken nähren.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388620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700" b="1">
                <a:solidFill>
                  <a:srgbClr val="45818E"/>
                </a:solidFill>
                <a:latin typeface="Arial"/>
              </a:rPr>
              <a:t>Perspektivwechsel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„Wie wichtig ist das in 10 Tagen, 10 Monaten, 10 Jahren?“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343400" y="388620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Bewusste Pause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„Ich melde mich dazu heute Nachmittag.“ – Online: Kamera kurz aus, Wasser holen.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388620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700" b="1">
                <a:solidFill>
                  <a:srgbClr val="45818E"/>
                </a:solidFill>
                <a:latin typeface="Arial"/>
              </a:rPr>
              <a:t>Bewegung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Aufstehen, kurzer Gang, Schultern lockern – Stresshormone werden abgebaut.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Stress, Emotionen und Resilienz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Selye (1974); Lazarus &amp; Folkman (1984); Schneider et al. (2013)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5120640" cy="3749039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Stress entsteht im Kopf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Nach Lazarus entscheidet unsere </a:t>
            </a:r>
            <a:r>
              <a:rPr sz="1400" b="1">
                <a:solidFill>
                  <a:srgbClr val="1F2A36"/>
                </a:solidFill>
                <a:latin typeface="Arial"/>
              </a:rPr>
              <a:t>Bewertung</a:t>
            </a:r>
            <a:r>
              <a:rPr sz="1400" b="0">
                <a:solidFill>
                  <a:srgbClr val="1F2A36"/>
                </a:solidFill>
                <a:latin typeface="Arial"/>
              </a:rPr>
              <a:t>, ob eine Anforderung als Herausforderung (Eustress) oder als Bedrohung (Distress) erlebt wird: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1. Ist die Situation bedrohlich?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2. Habe ich genug Ressourcen, sie zu bewältigen?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217920" y="1965960"/>
            <a:ext cx="5212080" cy="3749039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800" b="1">
                <a:solidFill>
                  <a:srgbClr val="45818E"/>
                </a:solidFill>
                <a:latin typeface="Arial"/>
              </a:rPr>
              <a:t>EI stärkt Resilienz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Menschen mit hoher EI bewerten Stressoren eher als Herausforderung, zeigen weniger physiologische Stressreaktion und erholen sich schneller.</a:t>
            </a:r>
          </a:p>
          <a:p>
            <a:pPr algn="l"/>
          </a:p>
          <a:p>
            <a:pPr algn="l"/>
            <a:r>
              <a:rPr sz="1400" b="1">
                <a:solidFill>
                  <a:srgbClr val="1F2A36"/>
                </a:solidFill>
                <a:latin typeface="Arial"/>
              </a:rPr>
              <a:t>Hebel: Selbstwahrnehmung + Neubewertung + soziale Unterstützung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Reframing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Belastende Situationen bewusst neu bewerten.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Jede Person schildert kurz eine aktuelle Situation, die Ärger oder Druck auslöst.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Die Gruppe sammelt mindestens drei alternative Deutungen.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Die erzählende Person wählt die hilfreichste Deutung aus.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verändert sich das Gefühl (Skala 1–10) vorher/nachher?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25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Breakout-Räume à 3–4 Personen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5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5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Motivation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treibt mich wirklich an?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bleibe ich bei Rückschlägen dran?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beeinflusst meine Denkweise meinen Erfolg?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Intrinsische Motivation: Die Selbstbestimmungstheorie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Nachhaltige Motivation entsteht, wenn drei psychologische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Grundbedürfnisse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erfüllt sind.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Deci &amp; Ryan (1985, 2000): Self-Determination Theory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1600200" y="2468880"/>
            <a:ext cx="1645920" cy="1645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Autonomie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429768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Selbst entscheiden, wie ich arbeite</a:t>
            </a:r>
          </a:p>
          <a:p>
            <a:pPr algn="ctr"/>
            <a:r>
              <a:rPr sz="1200" b="0">
                <a:solidFill>
                  <a:srgbClr val="4A5561"/>
                </a:solidFill>
                <a:latin typeface="Arial"/>
              </a:rPr>
              <a:t>Führung: Handlungsspielräume geben, Ziele statt Wege vorgeben</a:t>
            </a:r>
          </a:p>
        </p:txBody>
      </p:sp>
      <p:sp>
        <p:nvSpPr>
          <p:cNvPr id="218" name="Oval 217"/>
          <p:cNvSpPr/>
          <p:nvPr/>
        </p:nvSpPr>
        <p:spPr>
          <a:xfrm>
            <a:off x="5212080" y="2468880"/>
            <a:ext cx="1645920" cy="1645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Kompetenz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343400" y="429768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Sich wirksam und fähig erleben</a:t>
            </a:r>
          </a:p>
          <a:p>
            <a:pPr algn="ctr"/>
            <a:r>
              <a:rPr sz="1200" b="0">
                <a:solidFill>
                  <a:srgbClr val="4A5561"/>
                </a:solidFill>
                <a:latin typeface="Arial"/>
              </a:rPr>
              <a:t>Führung: Passende Herausforderungen, Feedback, Lernchancen</a:t>
            </a:r>
          </a:p>
        </p:txBody>
      </p:sp>
      <p:sp>
        <p:nvSpPr>
          <p:cNvPr id="220" name="Oval 219"/>
          <p:cNvSpPr/>
          <p:nvPr/>
        </p:nvSpPr>
        <p:spPr>
          <a:xfrm>
            <a:off x="8823960" y="2468880"/>
            <a:ext cx="1645920" cy="1645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Zugehörigkeit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429768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73736" rIns="173736" tIns="137160" bIns="137160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Sich verbunden und wertgeschätzt fühlen</a:t>
            </a:r>
          </a:p>
          <a:p>
            <a:pPr algn="ctr"/>
            <a:r>
              <a:rPr sz="1200" b="0">
                <a:solidFill>
                  <a:srgbClr val="4A5561"/>
                </a:solidFill>
                <a:latin typeface="Arial"/>
              </a:rPr>
              <a:t>Führung: Vertrauen, Teamgeist, echtes Interesse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Optimismus: Wie wir Rückschläge erklären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Martin Seligman zeigt: Entscheidend ist der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Erklärungsstil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– wie wir uns Misserfolge erklären.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Seligman (1990): Learned Optimism; Seligman &amp; Schulman (1986)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2468880"/>
          <a:ext cx="10698480" cy="226771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286000"/>
                <a:gridCol w="4023360"/>
                <a:gridCol w="43891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Pessimistischer Stil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Optimistischer Stil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Dauer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„Das wird immer so sein.“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„Das ist diesmal passiert.“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Reichweite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„Ich kann einfach nicht verkaufen.“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„Dieser Kunde hatte gerade kein Budget.“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Person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„Es liegt nur an mir.“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„Mehrere Faktoren spielten eine Rolle – was kann ich beeinflussen?“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Rounded Rectangle 216"/>
          <p:cNvSpPr/>
          <p:nvPr/>
        </p:nvSpPr>
        <p:spPr>
          <a:xfrm>
            <a:off x="731520" y="493776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ctr"/>
            <a:r>
              <a:rPr sz="1400" b="1">
                <a:solidFill>
                  <a:srgbClr val="0B5394"/>
                </a:solidFill>
                <a:latin typeface="Arial"/>
              </a:rPr>
              <a:t>Praxisbeleg: Bei MetLife verkauften optimistische Versicherungsvertreter in zwei Jahren rund 37 % mehr als pessimistische.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Belohnungsaufschub und Selbstdisziplin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Im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Marshmallow-Test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(Walter Mischel) konnten Kinder zwischen einer Süßigkeit sofort oder zwei Süßigkeiten nach Wartezeit wählen. Kinder, die warten konnten, zeigten später im Schnitt bessere Schulleistungen.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Kritische Einordnung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Eine große Replikation (Watts et al., 2018) fand einen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deutlich kleineren Effekt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– der soziale Hintergrund erklärt viel. Selbstkontrolle ist also auch eine Frage von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Vertrauen und Umfeld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Was hilft Erwachsenen beim Belohnungsaufschub?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Wenn-dann-Pläne: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„Wenn die E-Mail mich ärgert, dann antworte ich erst nach dem Mittag.“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Versuchungen aus dem Blickfeld: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Benachrichtigungen aus, Fokuszeiten blocken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„Warum“ sichtbar machen: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Ziel mit persönlichem Sinn verknüpfen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Mischel et al. (1989), Science; Watts, Duncan &amp; Quan (2018), Psychological Science; Gollwitzer (1999)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Growth Mindset: Fähigkeiten sind entwickelbar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Dweck (2006): Mindset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8A95A1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Fixed Mindset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217920" y="196596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Growth Mindset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2788920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„Das kann ich nicht.“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217920" y="2788920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„Das kann ich noch nicht.“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31520" y="3364991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Fehler sind peinlich.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217920" y="3364991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Fehler sind Lernchancen.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731520" y="3941063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Kritik ist ein Angriff.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217920" y="3941063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Kritik ist wertvolle Information.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31520" y="4517136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Der Erfolg anderer bedroht mich.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217920" y="4517136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Der Erfolg anderer inspiriert mich.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731520" y="5093208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Anstrengung zeigt fehlendes Talent.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217920" y="5093208"/>
            <a:ext cx="5212080" cy="484632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Anstrengung ist der Weg zur Meisterschaft.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Mein „Warum“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eigene Motivation klären und als Energiequelle nutzen.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gibt mir in meiner Arbeit am meisten Energie?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Wann war ich zuletzt richtig stolz auf meine Arbeit – und warum?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Welche meiner Werte zeigen sich darin?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Formulieren Sie einen Satz: „Ich mache meine Arbeit, weil …“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10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Einzelarbeit, freiwillig im Plenum teilen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6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6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Empathie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ist Empathie – und was nicht?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höre ich wirklich zu?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erkenne ich Emotionen – auch in Videokonferenzen?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Drei Formen der Empathie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(2013): Focus; Ekman (2003)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Kognitive Empathie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„Ich verstehe, wie du denkst.“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3154680"/>
            <a:ext cx="3383280" cy="25603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Perspektive des anderen nachvollziehen – wichtig für Verhandlung und Führung. Allein genutzt: Gefahr der Manipulation.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343400" y="196596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Emotionale Empathie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„Ich fühle, was du fühlst.“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343400" y="3154680"/>
            <a:ext cx="3383280" cy="25603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Gefühle des anderen mitschwingen lassen – schafft Nähe. Übermaß: Gefahr der emotionalen Erschöpfung.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955280" y="196596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2E6B5E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Empathische Anteilnahme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„Ich will dir helfen.“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3154680"/>
            <a:ext cx="3383280" cy="25603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Verstehen und Mitfühlen führen zu hilfreichem Handeln – die Königsdisziplin.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Aktives Zuhören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Wir hören meist mit der Absicht zu antworten – nicht mit der Absicht zu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verstehen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Rogers (1951);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508760" y="2468880"/>
            <a:ext cx="25603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Aufmerksam sein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114800" y="2468880"/>
            <a:ext cx="39319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Blickkontakt, zugewandte Haltung, nicht unterbrechen, Handy weg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8183879" y="2468880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„Hm“, Nicken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508760" y="3291840"/>
            <a:ext cx="25603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Paraphrasieren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4114800" y="3291840"/>
            <a:ext cx="39319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Inhalt mit eigenen Worten wiedergeben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8183879" y="3291840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„Sie meinen also, dass …“</a:t>
            </a:r>
          </a:p>
        </p:txBody>
      </p:sp>
      <p:sp>
        <p:nvSpPr>
          <p:cNvPr id="224" name="Oval 223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508760" y="4114800"/>
            <a:ext cx="25603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Verbalisieren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4114800" y="4114800"/>
            <a:ext cx="39319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Das wahrgenommene Gefühl ansprechen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8183879" y="4114800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„Das klingt, als wären Sie enttäuscht.“</a:t>
            </a:r>
          </a:p>
        </p:txBody>
      </p:sp>
      <p:sp>
        <p:nvSpPr>
          <p:cNvPr id="228" name="Oval 227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508760" y="4937760"/>
            <a:ext cx="25603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Nachfragen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114800" y="4937760"/>
            <a:ext cx="39319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Offene Fragen zur Klärung stellen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183879" y="4937760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„Was genau ist Ihnen dabei wichtig?“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Vier-Seiten-Modell nach Schulz von Thun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Jede Nachricht hat vier Seiten – und wir hören sie mit „vier Ohren“. Emotional intelligente Menschen hören bewusst auf das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Beziehungs- und Appell-Ohr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Schulz von Thun (1981): Miteinander reden 1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4480560" y="3063240"/>
            <a:ext cx="3200400" cy="1737360"/>
          </a:xfrm>
          <a:prstGeom prst="ellipse">
            <a:avLst/>
          </a:prstGeom>
          <a:solidFill>
            <a:srgbClr val="F2F4F6"/>
          </a:solidFill>
          <a:ln>
            <a:noFill/>
          </a:ln>
        </p:spPr>
        <p:txBody>
          <a:bodyPr rtlCol="0" anchor="ctr" wrap="square" lIns="310896" rIns="310896" tIns="274320" bIns="274320"/>
          <a:lstStyle/>
          <a:p>
            <a:pPr algn="ctr"/>
            <a:r>
              <a:rPr sz="1500" b="1">
                <a:solidFill>
                  <a:srgbClr val="1F2A36"/>
                </a:solidFill>
                <a:latin typeface="Arial"/>
              </a:rPr>
              <a:t>„Die Präsentation ist ja immer noch nicht fertig.“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2697480"/>
            <a:ext cx="3474720" cy="123444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Sachinhalt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Die Präsentation ist nicht fertig.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955279" y="2697480"/>
            <a:ext cx="3474720" cy="123444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Selbstoffenbarung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Ich bin unter Druck.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343400"/>
            <a:ext cx="3474720" cy="1234440"/>
          </a:xfrm>
          <a:prstGeom prst="roundRect">
            <a:avLst>
              <a:gd name="adj" fmla="val 12000"/>
            </a:avLst>
          </a:prstGeom>
          <a:solidFill>
            <a:srgbClr val="45818E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Beziehung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Du bist unzuverlässig.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955279" y="4343400"/>
            <a:ext cx="3474720" cy="123444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Appell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Beeil dich!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Emotionen lesen – auch in Videokonferenzen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Worauf achten?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Mimik: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Mikroexpressionen, Stirnrunzeln, angespannte Lippen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Tempo, Lautstärke, Pausen, Tonfall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Sprache: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absolute Wörter („immer“, „nie“), plötzliche Einsilbigkeit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Verhalten: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Kamera aus, Schweigen, verspätete Antworten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Besonderheiten online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Nonverbale Signale sind stark reduziert –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nachfragen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statt interpretieren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Check-ins zu Beginn: „Wie geht es euch gerade – in einem Wort?“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Emotionale Zustände explizit machen: „Ich sehe ein paar nachdenkliche Gesichter …“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Videokonferenzen ermüden (hohe nonverbale Last) – Pausen einplanen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Ekman (2003); Bailenson (2021), Technology, Mind, and Behavior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Empathie in virtuellen und hybriden Teams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Edmondson (2019);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1874519"/>
            <a:ext cx="4572000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Beziehung vor Aufgabe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5 Minuten informeller Austausch zu Beginn jedes Meetings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196596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812280" y="1874519"/>
            <a:ext cx="4572000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Regelmäßige 1:1-Gespräche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Nicht nur Status abfragen – auch Befinden und Belastung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154679"/>
            <a:ext cx="4572000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Kanal bewusst wählen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Heikle Themen per Video oder Telefon, nie per Chat oder E-Mail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324612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812280" y="3154679"/>
            <a:ext cx="4572000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Emojis und Ton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Schriftliche Nachrichten wirken oft kühler als gemeint – freundlich formulieren</a:t>
            </a:r>
          </a:p>
        </p:txBody>
      </p:sp>
      <p:sp>
        <p:nvSpPr>
          <p:cNvPr id="224" name="Oval 223"/>
          <p:cNvSpPr/>
          <p:nvPr/>
        </p:nvSpPr>
        <p:spPr>
          <a:xfrm>
            <a:off x="731520" y="4526279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371600" y="4434840"/>
            <a:ext cx="4572000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Gleiche Bühne für alle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In hybriden Meetings Remote-Teilnehmende aktiv einbeziehen</a:t>
            </a:r>
          </a:p>
        </p:txBody>
      </p:sp>
      <p:sp>
        <p:nvSpPr>
          <p:cNvPr id="226" name="Oval 225"/>
          <p:cNvSpPr/>
          <p:nvPr/>
        </p:nvSpPr>
        <p:spPr>
          <a:xfrm>
            <a:off x="6172200" y="4526279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812280" y="4434840"/>
            <a:ext cx="4572000" cy="10972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Wertschätzung sichtbar machen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Erfolge öffentlich würdigen, z. B. im Team-Kanal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Perspektivwechsel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Empathie in einer schwierigen Gesprächssituation trainieren.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Rollen verteilen: Person A (Anliegen), Person B (Zuhörer/in), Person C (Beobachter/in).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A schildert ein echtes Ärgernis aus dem Arbeitsalltag (3 Min.).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B hört aktiv zu: paraphrasieren, Gefühle verbalisieren, nachfragen.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C gibt Feedback: Was hat Verständnis erzeugt? Danach Rollen tauschen.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30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Breakout-Räume à 3 Personen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7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7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Soziale Kompetenz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gestalte ich tragfähige Beziehungen?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spreche ich Kritik wertschätzend an?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löse ich Konflikte emotional intelligent?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Beziehungsmanagement: EI in Aktion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Soziale Kompetenz bündelt alle anderen EI-Dimensionen: Wer sich selbst kennt und steuert und andere versteht, kann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Beziehungen gezielt gestalten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(1998); Hatfield, Cacioppo &amp; Rapson (1994): Emotional Contagion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74320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Überzeugen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Argumente auf Bedürfnisse des Gegenübers abstimmen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43400" y="274320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Kommunizieren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Klar, offen und wertschätzend sprechen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955280" y="274320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Konflikte lösen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Spannungen früh ansprechen, Win-win suchen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25196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Zusammenarbeiten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Vertrauen aufbauen, Wissen teilen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343400" y="425196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Inspirieren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Begeisterung wecken, Sinn vermitteln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4251960"/>
            <a:ext cx="3383280" cy="132588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Ansteckung nutzen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Stimmungen übertragen sich – besonders von Führungskräften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Gewaltfreie Kommunikation nach Rosenberg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Vier Schritte, um Anliegen klar und ohne Vorwurf zu äußern.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Rosenberg (2001): Gewaltfreie Kommunikation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Pentagon 215"/>
          <p:cNvSpPr/>
          <p:nvPr/>
        </p:nvSpPr>
        <p:spPr>
          <a:xfrm>
            <a:off x="731520" y="2331720"/>
            <a:ext cx="2606040" cy="91440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841248" y="2331720"/>
            <a:ext cx="2130552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Beobachtung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383280"/>
            <a:ext cx="246888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Was genau ist passiert – ohne Bewertung?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29768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„In den letzten drei Meetings kam der Bericht nach 10 Uhr.“</a:t>
            </a:r>
          </a:p>
        </p:txBody>
      </p:sp>
      <p:sp>
        <p:nvSpPr>
          <p:cNvPr id="220" name="Chevron 219"/>
          <p:cNvSpPr/>
          <p:nvPr/>
        </p:nvSpPr>
        <p:spPr>
          <a:xfrm>
            <a:off x="3447288" y="2331720"/>
            <a:ext cx="2606040" cy="914400"/>
          </a:xfrm>
          <a:prstGeom prst="chevron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3858768" y="2331720"/>
            <a:ext cx="182880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Gefühl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3447288" y="3383280"/>
            <a:ext cx="246888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Was fühle ich dabei?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3447288" y="429768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„Ich bin beunruhigt …“</a:t>
            </a:r>
          </a:p>
        </p:txBody>
      </p:sp>
      <p:sp>
        <p:nvSpPr>
          <p:cNvPr id="224" name="Chevron 223"/>
          <p:cNvSpPr/>
          <p:nvPr/>
        </p:nvSpPr>
        <p:spPr>
          <a:xfrm>
            <a:off x="6163056" y="2331720"/>
            <a:ext cx="2606040" cy="91440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6574536" y="2331720"/>
            <a:ext cx="182880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Bedürfnis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6163056" y="3383280"/>
            <a:ext cx="246888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Welches Bedürfnis steckt dahinter?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163056" y="429768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„… weil mir Planungssicherheit wichtig ist.“</a:t>
            </a:r>
          </a:p>
        </p:txBody>
      </p:sp>
      <p:sp>
        <p:nvSpPr>
          <p:cNvPr id="228" name="Chevron 227"/>
          <p:cNvSpPr/>
          <p:nvPr/>
        </p:nvSpPr>
        <p:spPr>
          <a:xfrm>
            <a:off x="8878824" y="2331720"/>
            <a:ext cx="2606040" cy="914400"/>
          </a:xfrm>
          <a:prstGeom prst="chevron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9290304" y="2331720"/>
            <a:ext cx="182880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Bitte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8878824" y="3383280"/>
            <a:ext cx="246888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Konkrete, erfüllbare Bitte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878824" y="4297680"/>
            <a:ext cx="2468880" cy="14173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„Kannst du ihn künftig bis 9 Uhr schicken?“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Feedback emotional intelligent geben: Das SBI-Modell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Konkretes, beschreibendes Feedback reduziert Abwehr – weil es die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Person nicht angreift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Center for Creative Leadership: Situation-Behavior-Impact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468880"/>
            <a:ext cx="914400" cy="9144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828800" y="2468880"/>
            <a:ext cx="356616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Situation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Wann und wo?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5577840" y="2514600"/>
            <a:ext cx="5852160" cy="82296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„Im Kundentermin gestern …“</a:t>
            </a:r>
          </a:p>
        </p:txBody>
      </p:sp>
      <p:sp>
        <p:nvSpPr>
          <p:cNvPr id="219" name="Oval 218"/>
          <p:cNvSpPr/>
          <p:nvPr/>
        </p:nvSpPr>
        <p:spPr>
          <a:xfrm>
            <a:off x="731520" y="3520440"/>
            <a:ext cx="914400" cy="91440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828800" y="3520440"/>
            <a:ext cx="356616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Behavior (Verhalten)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Was genau war beobachtbar?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5577840" y="3566160"/>
            <a:ext cx="5852160" cy="82296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„… hast du den Kunden zweimal unterbrochen.“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572000"/>
            <a:ext cx="914400" cy="9144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828800" y="4572000"/>
            <a:ext cx="3566160" cy="9144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Impact (Wirkung)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Welche Wirkung hatte das?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5577840" y="4617720"/>
            <a:ext cx="5852160" cy="82296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„Er wirkte danach verschlossen, und ich hatte Sorge um den Auftrag.“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731520" y="5623560"/>
            <a:ext cx="10698480" cy="36576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45818E"/>
                </a:solidFill>
                <a:latin typeface="Arial"/>
              </a:rPr>
              <a:t>Danach: Pause lassen, Sicht des anderen erfragen, gemeinsam Lösung vereinbaren.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Konflikte emotional intelligent lösen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Das Harvard-Konzept verbindet Sachlichkeit mit Respekt vor den Emotionen der Beteiligten.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Fisher, Ury &amp; Patton (1981): Das Harvard-Konzept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42316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1. Mensch und Problem trennen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Hart in der Sache, weich zum Menschen. Emotionen anerkennen, bevor man argumentiert.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42316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45818E"/>
                </a:solidFill>
                <a:latin typeface="Arial"/>
              </a:rPr>
              <a:t>2. Interessen statt Positionen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Hinter „Ich will X“ nach dem „Warum?“ fragen – Interessen sind verhandelbar.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411480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3. Optionen entwickeln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Erst Ideen sammeln, dann bewerten. Mehrere Lösungen erhöhen die Chance auf Einigung.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172200" y="411480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45818E"/>
                </a:solidFill>
                <a:latin typeface="Arial"/>
              </a:rPr>
              <a:t>4. Objektive Kriterien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Faire, neutrale Maßstäbe vereinbaren – das nimmt Emotionen aus Machtfragen.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Psychologische Sicherheit im Team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Edmondson (1999), Administrative Science Quarterly; Google re:Work – Project Aristotle (2015)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1965960"/>
            <a:ext cx="4846320" cy="3749039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310896" rIns="310896" tIns="274320" bIns="274320"/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Psychologische Sicherheit</a:t>
            </a:r>
          </a:p>
          <a:p>
            <a:pPr algn="l"/>
          </a:p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Die geteilte Überzeugung, dass man im Team Risiken eingehen kann – Fragen stellen, Fehler zugeben, Kritik äußern –, ohne bloßgestellt zu werden.</a:t>
            </a:r>
          </a:p>
          <a:p>
            <a:pPr algn="l"/>
          </a:p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Googles „Project Aristotle“ identifizierte sie als wichtigsten Faktor erfolgreicher Teams.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0" y="1965960"/>
            <a:ext cx="5486400" cy="4572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Was Führungskräfte konkret tun können</a:t>
            </a:r>
          </a:p>
        </p:txBody>
      </p:sp>
      <p:sp>
        <p:nvSpPr>
          <p:cNvPr id="218" name="Oval 217"/>
          <p:cNvSpPr/>
          <p:nvPr/>
        </p:nvSpPr>
        <p:spPr>
          <a:xfrm>
            <a:off x="5943600" y="2560320"/>
            <a:ext cx="411480" cy="4114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492240" y="2514600"/>
            <a:ext cx="493776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Eigene Fehler offen ansprechen</a:t>
            </a:r>
          </a:p>
        </p:txBody>
      </p:sp>
      <p:sp>
        <p:nvSpPr>
          <p:cNvPr id="220" name="Oval 219"/>
          <p:cNvSpPr/>
          <p:nvPr/>
        </p:nvSpPr>
        <p:spPr>
          <a:xfrm>
            <a:off x="5943600" y="3200400"/>
            <a:ext cx="411480" cy="4114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492240" y="3154680"/>
            <a:ext cx="493776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Fragen stellen statt Antworten vorgeben</a:t>
            </a:r>
          </a:p>
        </p:txBody>
      </p:sp>
      <p:sp>
        <p:nvSpPr>
          <p:cNvPr id="222" name="Oval 221"/>
          <p:cNvSpPr/>
          <p:nvPr/>
        </p:nvSpPr>
        <p:spPr>
          <a:xfrm>
            <a:off x="5943600" y="3840479"/>
            <a:ext cx="411480" cy="4114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492240" y="3794759"/>
            <a:ext cx="493776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Neugierig auf Einwände reagieren</a:t>
            </a:r>
          </a:p>
        </p:txBody>
      </p:sp>
      <p:sp>
        <p:nvSpPr>
          <p:cNvPr id="224" name="Oval 223"/>
          <p:cNvSpPr/>
          <p:nvPr/>
        </p:nvSpPr>
        <p:spPr>
          <a:xfrm>
            <a:off x="5943600" y="4480559"/>
            <a:ext cx="411480" cy="4114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492240" y="4434840"/>
            <a:ext cx="493776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Beiträge wertschätzen – auch wenn sie nicht passen</a:t>
            </a:r>
          </a:p>
        </p:txBody>
      </p:sp>
      <p:sp>
        <p:nvSpPr>
          <p:cNvPr id="226" name="Oval 225"/>
          <p:cNvSpPr/>
          <p:nvPr/>
        </p:nvSpPr>
        <p:spPr>
          <a:xfrm>
            <a:off x="5943600" y="5120640"/>
            <a:ext cx="411480" cy="41148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492240" y="5074920"/>
            <a:ext cx="493776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Fehler als Lernchance behandeln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8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8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EI in Führung und Vertrieb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Welcher Führungsstil wirkt wann?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Warum kaufen Kunden emotional?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gehe ich mit emotionalen Einwänden um?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Sechs Führungsstile nach Goleman und ihre Wirkung auf das Klima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 (2000), HBR „Leadership That Gets Results“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1920240"/>
          <a:ext cx="10698480" cy="3520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43200"/>
                <a:gridCol w="2560320"/>
                <a:gridCol w="2286000"/>
                <a:gridCol w="31089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Stil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Kernsatz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Wirkung aufs Klima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Sinnvoll bei …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Visionär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„Kommt mit mir.“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stark positiv (+.54)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Neuausrichtung, fehlende Orientierung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Coachend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„Probier es aus.“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positiv (+.42)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Entwicklung langfristiger Stärken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Gefühlsorientiert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„Menschen zuerst.“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positiv (+.46)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Konflikte heilen, Motivation in Krisen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Demokratisch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„Was meint ihr?“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positiv (+.43)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Konsens und Beteiligung gewinnen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Fordernd (Schrittmacher)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„Mach es wie ich, jetzt.“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negativ (−.25)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Kurzfristig mit Top-Team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Befehlend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„Tu, was ich sage.“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negativ (−.26)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Echte Krise, Notfall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  <p:sp>
        <p:nvSpPr>
          <p:cNvPr id="217" name="Rounded Rectangle 216"/>
          <p:cNvSpPr/>
          <p:nvPr/>
        </p:nvSpPr>
        <p:spPr>
          <a:xfrm>
            <a:off x="731520" y="5486400"/>
            <a:ext cx="10698480" cy="4114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45818E"/>
                </a:solidFill>
                <a:latin typeface="Arial"/>
              </a:rPr>
              <a:t>Erfolgreiche Führungskräfte beherrschen mehrere Stile und wechseln situativ – das erfordert hohe EI.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Resonante Führung: Die Stimmung macht den Unterschied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Führungskräfte sind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emotionale Taktgeber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: Ihre Stimmung überträgt sich auf das Team und beeinflusst Leistung und Klima (emotionale Ansteckung).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Resonante Führungskräfte …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sind sich ihrer eigenen Wirkung bewusst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vermitteln Hoffnung und Zuversicht – auch in schwierigen Phasen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zeigen echtes Interesse an Menschen (Mitgefühl)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achten auf ihre eigene Erholung, um Dissonanz zu vermeiden</a:t>
            </a: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Reflexionsfrage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Mit welcher Stimmung betrete ich morgens das (virtuelle) Büro – und was löse ich damit aus?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Goleman, Boyatzis &amp; McKee (2002): Primal Leadership; Boyatzis &amp; McKee (2005): Resonant Leadership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Emotionale Intelligenz im Vertrieb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Menschen entscheiden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emotional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und begründen rational: Nach Damasios Theorie der somatischen Marker sind Emotionen für jede Entscheidung unverzichtbar.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Damasio (1994): Descartes' Irrtum;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Pentagon 215"/>
          <p:cNvSpPr/>
          <p:nvPr/>
        </p:nvSpPr>
        <p:spPr>
          <a:xfrm>
            <a:off x="731520" y="2743200"/>
            <a:ext cx="3383280" cy="64008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841248" y="2743200"/>
            <a:ext cx="3017520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Vor dem Gespräch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520440"/>
            <a:ext cx="3200400" cy="214884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Eigene Stimmung prüfen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Kunden-Situation antizipieren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Ziel und Haltung klären</a:t>
            </a:r>
          </a:p>
        </p:txBody>
      </p:sp>
      <p:sp>
        <p:nvSpPr>
          <p:cNvPr id="219" name="Chevron 218"/>
          <p:cNvSpPr/>
          <p:nvPr/>
        </p:nvSpPr>
        <p:spPr>
          <a:xfrm>
            <a:off x="4343400" y="2743200"/>
            <a:ext cx="3383280" cy="640080"/>
          </a:xfrm>
          <a:prstGeom prst="chevron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4631436" y="2743200"/>
            <a:ext cx="2839212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Im Gespräch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4343400" y="3520440"/>
            <a:ext cx="3200400" cy="214884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Emotionale Signale lesen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Bedürfnisse erfragen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Nutzen emotional erlebbar machen</a:t>
            </a:r>
          </a:p>
        </p:txBody>
      </p:sp>
      <p:sp>
        <p:nvSpPr>
          <p:cNvPr id="222" name="Chevron 221"/>
          <p:cNvSpPr/>
          <p:nvPr/>
        </p:nvSpPr>
        <p:spPr>
          <a:xfrm>
            <a:off x="7955280" y="2743200"/>
            <a:ext cx="3383280" cy="6400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8243316" y="2743200"/>
            <a:ext cx="2839212" cy="64008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Nach dem Gespräch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955280" y="3520440"/>
            <a:ext cx="3200400" cy="214884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Absagen nicht persönlich nehmen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Optimistisch erklären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Beziehung weiter pflegen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Emotionale Einwände souverän behandeln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Hinter vielen Einwänden stecken Gefühle wie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Unsicherheit, Angst vor Fehlentscheidung oder Misstrauen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Pentagon 215"/>
          <p:cNvSpPr/>
          <p:nvPr/>
        </p:nvSpPr>
        <p:spPr>
          <a:xfrm>
            <a:off x="731520" y="2514600"/>
            <a:ext cx="2103120" cy="96012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841248" y="2514600"/>
            <a:ext cx="1609343" cy="9601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Zuhören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61188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Einwand ausreden lassen, nicht sofort kontern</a:t>
            </a:r>
          </a:p>
        </p:txBody>
      </p:sp>
      <p:sp>
        <p:nvSpPr>
          <p:cNvPr id="219" name="Chevron 218"/>
          <p:cNvSpPr/>
          <p:nvPr/>
        </p:nvSpPr>
        <p:spPr>
          <a:xfrm>
            <a:off x="2898648" y="2514600"/>
            <a:ext cx="2103120" cy="960120"/>
          </a:xfrm>
          <a:prstGeom prst="chevron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3330702" y="2514600"/>
            <a:ext cx="1287017" cy="9601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Gefühl anerkennen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2898648" y="361188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„Ich verstehe, dass das eine große Investition ist.“</a:t>
            </a:r>
          </a:p>
        </p:txBody>
      </p:sp>
      <p:sp>
        <p:nvSpPr>
          <p:cNvPr id="222" name="Chevron 221"/>
          <p:cNvSpPr/>
          <p:nvPr/>
        </p:nvSpPr>
        <p:spPr>
          <a:xfrm>
            <a:off x="5065776" y="2514600"/>
            <a:ext cx="2103120" cy="96012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5497830" y="2514600"/>
            <a:ext cx="1287017" cy="9601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Hinterfragen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5065776" y="361188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„Was genau bereitet Ihnen dabei Sorgen?“</a:t>
            </a:r>
          </a:p>
        </p:txBody>
      </p:sp>
      <p:sp>
        <p:nvSpPr>
          <p:cNvPr id="225" name="Chevron 224"/>
          <p:cNvSpPr/>
          <p:nvPr/>
        </p:nvSpPr>
        <p:spPr>
          <a:xfrm>
            <a:off x="7232904" y="2514600"/>
            <a:ext cx="2103120" cy="960120"/>
          </a:xfrm>
          <a:prstGeom prst="chevron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7664958" y="2514600"/>
            <a:ext cx="1287017" cy="9601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Lösung anbieten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7232904" y="361188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Referenz, Testphase, Garantie – passend zum Gefühl</a:t>
            </a:r>
          </a:p>
        </p:txBody>
      </p:sp>
      <p:sp>
        <p:nvSpPr>
          <p:cNvPr id="228" name="Chevron 227"/>
          <p:cNvSpPr/>
          <p:nvPr/>
        </p:nvSpPr>
        <p:spPr>
          <a:xfrm>
            <a:off x="9400032" y="2514600"/>
            <a:ext cx="2103120" cy="96012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9" name="Rounded Rectangle 228"/>
          <p:cNvSpPr/>
          <p:nvPr/>
        </p:nvSpPr>
        <p:spPr>
          <a:xfrm>
            <a:off x="9832086" y="2514600"/>
            <a:ext cx="1287017" cy="9601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Zustimmung prüfen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9400032" y="361188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„Ist Ihre Sorge damit ausgeräumt?“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731520" y="5394960"/>
            <a:ext cx="10698480" cy="36576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45818E"/>
                </a:solidFill>
                <a:latin typeface="Arial"/>
              </a:rPr>
              <a:t>Kein Einwand ohne Anerkennung – erst die Beziehung, dann das Argument.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Praxisfälle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EI-Werkzeuge in typischen Situationen aus Führung und Vertrieb anwenden.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371600" y="2423160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Fall A: Ein Mitarbeiter reagiert im Teams-Call gereizt auf eine neue Aufgabe.</a:t>
            </a:r>
          </a:p>
        </p:txBody>
      </p:sp>
      <p:sp>
        <p:nvSpPr>
          <p:cNvPr id="218" name="Oval 217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371600" y="3136392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Fall B: Eine Kundin droht verärgert mit Vertragskündigung.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941064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71600" y="3849624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Analysieren Sie: Welche Emotionen, welche Bedürfnisse, welche eigenen Trigger?</a:t>
            </a:r>
          </a:p>
        </p:txBody>
      </p:sp>
      <p:sp>
        <p:nvSpPr>
          <p:cNvPr id="222" name="Oval 221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371600" y="4562856"/>
            <a:ext cx="6309360" cy="6858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Spielen Sie das Gespräch kurz durch und präsentieren Sie Ihre drei wichtigsten Erkenntnisse.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38160" y="2514600"/>
            <a:ext cx="3383280" cy="301752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30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Breakout-Räume, Präsentation im Plenum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Modul 9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649224" y="2011680"/>
            <a:ext cx="5120640" cy="3383280"/>
          </a:xfrm>
          <a:prstGeom prst="roundRect">
            <a:avLst>
              <a:gd name="adj" fmla="val 12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356615" rIns="356615" tIns="320040" bIns="320040"/>
          <a:lstStyle/>
          <a:p>
            <a:pPr algn="l"/>
            <a:r>
              <a:rPr sz="1600" b="1">
                <a:solidFill>
                  <a:srgbClr val="C9DAF0"/>
                </a:solidFill>
                <a:latin typeface="Arial"/>
              </a:rPr>
              <a:t>MODUL 9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Transfer in den Alltag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172200" y="2011680"/>
            <a:ext cx="5349240" cy="50292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Leitfragen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26517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903720" y="25420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mache ich EI zur Gewohnheit?</a:t>
            </a:r>
          </a:p>
        </p:txBody>
      </p:sp>
      <p:sp>
        <p:nvSpPr>
          <p:cNvPr id="220" name="Oval 219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903720" y="34564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Wo stehe ich heute?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4480560"/>
            <a:ext cx="548640" cy="54864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903720" y="4370832"/>
            <a:ext cx="4617720" cy="77724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Was setze ich ab morgen konkret um?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EI entwickeln: Kleine Routinen, große Wirkung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Neue Gewohnheiten brauchen Zeit: Im Schnitt dauerte es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66 Tage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, bis ein neues Verhalten automatisch ablief (Spannweite 18–254 Tage).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Lally et al. (2010), European Journal of Social Psychology;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65176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Morgens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2 Minuten: „Wie geht es mir? Was brauche ich heute?“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43400" y="265176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Vor Meetings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Kurzer Check: Stimmung, Ziel, gewünschte Wirkung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955280" y="265176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In Stressmomenten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STOP-Technik oder drei tiefe Atemzüge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2062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Mittags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Echte Pause ohne Bildschirm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343400" y="42062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Abends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Emotionstagebuch: 1 Situation, 1 Gefühl, 1 Erkenntnis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955280" y="42062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Wöchentlich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Feedback zu einer konkreten Situation einholen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Selbstcheck: Wo stehe ich?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Bewerten Sie spontan von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1 (trifft nicht zu)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bis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5 (trifft voll zu)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 Hinweis: Reflexionshilfe, kein validierter Test.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 in Anlehnung an Goleman (1998)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731520" y="2377440"/>
          <a:ext cx="10698480" cy="337413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60320"/>
                <a:gridCol w="7040880"/>
                <a:gridCol w="1097280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Aussage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1 – 5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Selbstwahrnehmung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kann meine Gefühle in den meisten Situationen genau benennen.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Selbstwahrnehmung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kenne die Situationen, die mich zuverlässig aus der Ruhe bringen.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Selbstregulation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Auch unter Druck reagiere ich überlegt statt impulsiv.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Selbstregulation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Nach Rückschlägen finde ich schnell wieder in meine Balance.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Motivation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bleibe auch bei Widerständen an meinen Zielen dran.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Empathie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merke schnell, wenn es jemandem im Team nicht gut geht.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Empathie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höre zu, um zu verstehen – nicht nur, um zu antworten.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Soziale Kompetenz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spreche Konflikte früh und wertschätzend an.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Mein persönlicher Transferplan</a:t>
            </a: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Beantworten Sie die Fragen schriftlich – konkret, realistisch und mit Termin.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731520" y="2423160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Meine wichtigste Erkenntnis heute: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3081528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Diese EI-Kompetenz entwickle ich als Erstes: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31520" y="3739896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Konkret werde ich ab morgen … (Wenn-dann-Plan)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31520" y="4398264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DDEDEF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Woran erkenne ich in 66 Tagen meinen Fortschritt?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31520" y="5056631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Wer kann mir dabei Feedback geben?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Zusammenfassung: Die wichtigsten Erkenntnisse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Darstellung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31520" y="1965960"/>
            <a:ext cx="731520" cy="7315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600200" y="1874519"/>
            <a:ext cx="4389120" cy="1143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Emotionen sind Informationen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Sie zeigen Bedürfnisse an – wer sie liest, entscheidet besser.</a:t>
            </a:r>
          </a:p>
        </p:txBody>
      </p:sp>
      <p:sp>
        <p:nvSpPr>
          <p:cNvPr id="218" name="Oval 217"/>
          <p:cNvSpPr/>
          <p:nvPr/>
        </p:nvSpPr>
        <p:spPr>
          <a:xfrm>
            <a:off x="6172200" y="1965960"/>
            <a:ext cx="731520" cy="7315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040880" y="1874519"/>
            <a:ext cx="4389120" cy="1143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Selbstwahrnehmung ist die Basis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Gefühle präzise benennen und Auslöser kennen.</a:t>
            </a:r>
          </a:p>
        </p:txBody>
      </p:sp>
      <p:sp>
        <p:nvSpPr>
          <p:cNvPr id="220" name="Oval 219"/>
          <p:cNvSpPr/>
          <p:nvPr/>
        </p:nvSpPr>
        <p:spPr>
          <a:xfrm>
            <a:off x="731520" y="3246120"/>
            <a:ext cx="731520" cy="7315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600200" y="3154679"/>
            <a:ext cx="4389120" cy="1143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Steuern statt unterdrücken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Neubewerten, benennen, bewusst pausieren.</a:t>
            </a:r>
          </a:p>
        </p:txBody>
      </p:sp>
      <p:sp>
        <p:nvSpPr>
          <p:cNvPr id="222" name="Oval 221"/>
          <p:cNvSpPr/>
          <p:nvPr/>
        </p:nvSpPr>
        <p:spPr>
          <a:xfrm>
            <a:off x="6172200" y="3246120"/>
            <a:ext cx="731520" cy="7315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040880" y="3154679"/>
            <a:ext cx="4389120" cy="1143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Empathie verbindet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Aktiv zuhören, nachfragen, Gefühle anerkennen.</a:t>
            </a:r>
          </a:p>
        </p:txBody>
      </p:sp>
      <p:sp>
        <p:nvSpPr>
          <p:cNvPr id="224" name="Oval 223"/>
          <p:cNvSpPr/>
          <p:nvPr/>
        </p:nvSpPr>
        <p:spPr>
          <a:xfrm>
            <a:off x="731520" y="4526279"/>
            <a:ext cx="731520" cy="7315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600200" y="4434840"/>
            <a:ext cx="4389120" cy="1143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Beziehungen bewusst gestalten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Klare, wertschätzende Kommunikation und psychologische Sicherheit.</a:t>
            </a:r>
          </a:p>
        </p:txBody>
      </p:sp>
      <p:sp>
        <p:nvSpPr>
          <p:cNvPr id="226" name="Oval 225"/>
          <p:cNvSpPr/>
          <p:nvPr/>
        </p:nvSpPr>
        <p:spPr>
          <a:xfrm>
            <a:off x="6172200" y="4526279"/>
            <a:ext cx="731520" cy="731520"/>
          </a:xfrm>
          <a:prstGeom prst="ellipse">
            <a:avLst/>
          </a:prstGeom>
          <a:solidFill>
            <a:srgbClr val="45818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7040880" y="4434840"/>
            <a:ext cx="4389120" cy="1143000"/>
          </a:xfrm>
          <a:prstGeom prst="roundRect">
            <a:avLst>
              <a:gd name="adj" fmla="val 12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EI ist trainierbar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Kleine tägliche Routinen führen zu nachhaltiger Veränderung.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12" name="Google Shape;212;g3bfc9e81fc1_0_2916"/>
          <p:cNvSpPr txBox="1"/>
          <p:nvPr>
            <p:ph type="title"/>
          </p:nvPr>
        </p:nvSpPr>
        <p:spPr>
          <a:xfrm>
            <a:off x="646100" y="452725"/>
            <a:ext cx="9676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200"/>
              <a:buFont typeface="Century Gothic"/>
              <a:buNone/>
            </a:pPr>
            <a:r>
              <a:rPr b="1" lang="de-DE" sz="3000">
                <a:solidFill>
                  <a:srgbClr val="45818E"/>
                </a:solidFill>
              </a:rPr>
              <a:t>Erfolgsfaktor Emotionale Intelligenz</a:t>
            </a:r>
            <a:endParaRPr b="1">
              <a:solidFill>
                <a:srgbClr val="45818E"/>
              </a:solidFill>
            </a:endParaRPr>
          </a:p>
        </p:txBody>
      </p:sp>
      <p:sp>
        <p:nvSpPr>
          <p:cNvPr id="213" name="Google Shape;213;g3bfc9e81fc1_0_2916"/>
          <p:cNvSpPr txBox="1"/>
          <p:nvPr>
            <p:ph idx="1" type="body"/>
          </p:nvPr>
        </p:nvSpPr>
        <p:spPr>
          <a:xfrm>
            <a:off x="645125" y="1368200"/>
            <a:ext cx="106362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Literaturempfehlungen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Goleman, D. (1996):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EQ. Emotionale Intelligenz. München: Hanser.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Goleman, D. (1999):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EQ². Der Erfolgsquotient. München: Hanser.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Goleman, D., Boyatzis, R. &amp; McKee, A. (2003):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Emotionale Führung. Berlin: Ullstein.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Barrett, L. F. (2023):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Wie Gefühle entstehen. Hamburg: Rowohlt.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Bradberry, T. &amp; Greaves, J. (2009):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Emotional Intelligence 2.0. San Diego: TalentSmart.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Rosenberg, M. B. (2016):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Gewaltfreie Kommunikation. Paderborn: Junfermann.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Schulz von Thun, F. (1981):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Miteinander reden 1. Reinbek: Rowohlt.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Dweck, C. (2017):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Selbstbild. Wie unser Denken Erfolge oder Niederlagen bewirkt. München: Piper.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5818E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Eurich, T. (2018):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Insight. New York: Crown Business.</a:t>
            </a:r>
          </a:p>
        </p:txBody>
      </p:sp>
      <p:sp>
        <p:nvSpPr>
          <p:cNvPr id="214" name="Google Shape;214;g3bfc9e81fc1_0_291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g3bfc9e81fc1_0_2916"/>
          <p:cNvSpPr txBox="1"/>
          <p:nvPr/>
        </p:nvSpPr>
        <p:spPr>
          <a:xfrm>
            <a:off x="642074" y="6489488"/>
            <a:ext cx="1084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Quelle: eigene Zusammenstellung</a:t>
            </a:r>
            <a:endParaRPr b="0" i="0" sz="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BEST AKADEMIE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5E6E"/>
      </a:accent1>
      <a:accent2>
        <a:srgbClr val="38A9AD"/>
      </a:accent2>
      <a:accent3>
        <a:srgbClr val="61073B"/>
      </a:accent3>
      <a:accent4>
        <a:srgbClr val="B31D5D"/>
      </a:accent4>
      <a:accent5>
        <a:srgbClr val="DD9D05"/>
      </a:accent5>
      <a:accent6>
        <a:srgbClr val="FAC33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2019-02-23T12:23:41Z</dcterms:created>
  <dc:creator>Herrmann Schiffermueller</dc:creator>
</cp:coreProperties>
</file>